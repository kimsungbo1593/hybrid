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64" r:id="rId4"/>
    <p:sldId id="268" r:id="rId5"/>
    <p:sldId id="258" r:id="rId6"/>
    <p:sldId id="261" r:id="rId7"/>
    <p:sldId id="265" r:id="rId8"/>
    <p:sldId id="260" r:id="rId9"/>
    <p:sldId id="262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DBD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370" autoAdjust="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99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96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1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1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7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github.com/kimsungbo1593/hybrid/blob/main/1112%20TeamProject/etc/BabyGrowth%20html%20Prompt.tx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kimsungbo1593/hybrid/blob/main/1112%20TeamProject/etc/BabyGrowth%20Team%20Proceedings.txt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7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2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2.png"/><Relationship Id="rId9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0.png"/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44.png"/><Relationship Id="rId5" Type="http://schemas.openxmlformats.org/officeDocument/2006/relationships/image" Target="../media/image7.png"/><Relationship Id="rId10" Type="http://schemas.openxmlformats.org/officeDocument/2006/relationships/image" Target="../media/image68.png"/><Relationship Id="rId4" Type="http://schemas.openxmlformats.org/officeDocument/2006/relationships/image" Target="../media/image2.png"/><Relationship Id="rId9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1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.png"/><Relationship Id="rId10" Type="http://schemas.openxmlformats.org/officeDocument/2006/relationships/image" Target="../media/image75.png"/><Relationship Id="rId4" Type="http://schemas.openxmlformats.org/officeDocument/2006/relationships/image" Target="../media/image2.png"/><Relationship Id="rId9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82.png"/><Relationship Id="rId3" Type="http://schemas.openxmlformats.org/officeDocument/2006/relationships/image" Target="../media/image1.png"/><Relationship Id="rId7" Type="http://schemas.openxmlformats.org/officeDocument/2006/relationships/image" Target="../media/image79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81.png"/><Relationship Id="rId5" Type="http://schemas.openxmlformats.org/officeDocument/2006/relationships/image" Target="../media/image78.png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80.png"/><Relationship Id="rId1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4290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457700"/>
            <a:ext cx="2476202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609600" y="2057400"/>
            <a:ext cx="54864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우리 아이
성장 일지</a:t>
            </a:r>
            <a:endParaRPr lang="en-US" sz="4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09600" y="36957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소중한 순간을 기록하는 하이브리드 앱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2"/>
          <p:cNvSpPr/>
          <p:nvPr/>
        </p:nvSpPr>
        <p:spPr>
          <a:xfrm>
            <a:off x="762000" y="4457700"/>
            <a:ext cx="297144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Apache Cordova 기반 하이브리드 앱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09600" y="6324600"/>
            <a:ext cx="14639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2025년 11월 18일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AutoShape 2">
            <a:extLst>
              <a:ext uri="{FF2B5EF4-FFF2-40B4-BE49-F238E27FC236}">
                <a16:creationId xmlns:a16="http://schemas.microsoft.com/office/drawing/2014/main" id="{EDE2D66D-03A4-BA8E-90F3-77BA6ADE1E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63451FB-1B10-908C-7DE1-16717F9E2C8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Texturizer/>
                    </a14:imgEffect>
                  </a14:imgLayer>
                </a14:imgProps>
              </a:ext>
            </a:extLst>
          </a:blip>
          <a:srcRect l="11501" t="22589" r="15638"/>
          <a:stretch>
            <a:fillRect/>
          </a:stretch>
        </p:blipFill>
        <p:spPr>
          <a:xfrm>
            <a:off x="6095999" y="0"/>
            <a:ext cx="6096001" cy="6857999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AEE6C6FD-FA82-462F-BBDB-42603BA39494}"/>
              </a:ext>
            </a:extLst>
          </p:cNvPr>
          <p:cNvSpPr/>
          <p:nvPr/>
        </p:nvSpPr>
        <p:spPr>
          <a:xfrm>
            <a:off x="216574" y="203200"/>
            <a:ext cx="17512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ko-KR" altLang="en-US" sz="2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안드로드</a:t>
            </a:r>
            <a:endParaRPr 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19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638300"/>
            <a:ext cx="5334000" cy="121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866900"/>
            <a:ext cx="7620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" y="2076450"/>
            <a:ext cx="2476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8900" y="1905000"/>
            <a:ext cx="3810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0" y="23050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638300"/>
            <a:ext cx="5334000" cy="1219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866900"/>
            <a:ext cx="7620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7700" y="1905000"/>
            <a:ext cx="3810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67600" y="2305050"/>
            <a:ext cx="1714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3162300"/>
            <a:ext cx="5334000" cy="1219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3390900"/>
            <a:ext cx="762000" cy="762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8225" y="3600450"/>
            <a:ext cx="36195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00300" y="3429000"/>
            <a:ext cx="38100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28800" y="38290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3162300"/>
            <a:ext cx="5334000" cy="1219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3390900"/>
            <a:ext cx="762000" cy="762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48463" y="3600450"/>
            <a:ext cx="219075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67700" y="3429000"/>
            <a:ext cx="381000" cy="228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67600" y="3829050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" y="5715000"/>
            <a:ext cx="10972800" cy="533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2000" y="5886450"/>
            <a:ext cx="114300" cy="1524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60960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팀원 소개 및 역할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1"/>
          <p:cNvSpPr/>
          <p:nvPr/>
        </p:nvSpPr>
        <p:spPr>
          <a:xfrm>
            <a:off x="1828800" y="1866900"/>
            <a:ext cx="8229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김성보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"/>
          <p:cNvSpPr/>
          <p:nvPr/>
        </p:nvSpPr>
        <p:spPr>
          <a:xfrm>
            <a:off x="2705100" y="1943799"/>
            <a:ext cx="381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6653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조장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3"/>
          <p:cNvSpPr/>
          <p:nvPr/>
        </p:nvSpPr>
        <p:spPr>
          <a:xfrm>
            <a:off x="2057400" y="2286000"/>
            <a:ext cx="29058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프로젝트 전반 총괄 및 </a:t>
            </a:r>
            <a:r>
              <a:rPr lang="ko-KR" alt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앱 개발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4"/>
          <p:cNvSpPr/>
          <p:nvPr/>
        </p:nvSpPr>
        <p:spPr>
          <a:xfrm>
            <a:off x="7467600" y="1866900"/>
            <a:ext cx="8229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이현규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5"/>
          <p:cNvSpPr/>
          <p:nvPr/>
        </p:nvSpPr>
        <p:spPr>
          <a:xfrm>
            <a:off x="8342991" y="1943799"/>
            <a:ext cx="381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854D0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팀원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6"/>
          <p:cNvSpPr/>
          <p:nvPr/>
        </p:nvSpPr>
        <p:spPr>
          <a:xfrm>
            <a:off x="7715250" y="2286000"/>
            <a:ext cx="26238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발표 자료(PPT) </a:t>
            </a:r>
            <a:r>
              <a:rPr lang="en-US" sz="1200" dirty="0" err="1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제작</a:t>
            </a: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 (</a:t>
            </a:r>
            <a:r>
              <a:rPr lang="ko-KR" alt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독감</a:t>
            </a:r>
            <a:r>
              <a:rPr lang="en-US" altLang="ko-KR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)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7"/>
          <p:cNvSpPr/>
          <p:nvPr/>
        </p:nvSpPr>
        <p:spPr>
          <a:xfrm>
            <a:off x="1828800" y="3390900"/>
            <a:ext cx="5486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허윤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8"/>
          <p:cNvSpPr/>
          <p:nvPr/>
        </p:nvSpPr>
        <p:spPr>
          <a:xfrm>
            <a:off x="2476500" y="3467100"/>
            <a:ext cx="381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팀원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9"/>
          <p:cNvSpPr/>
          <p:nvPr/>
        </p:nvSpPr>
        <p:spPr>
          <a:xfrm>
            <a:off x="2057400" y="3810000"/>
            <a:ext cx="194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앱 코드 추가 및 수정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7467600" y="3390900"/>
            <a:ext cx="8229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공민승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8342991" y="3467100"/>
            <a:ext cx="381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팀원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7677150" y="3810000"/>
            <a:ext cx="2283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회의록 작성 및 기록 관리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990600" y="5867400"/>
            <a:ext cx="804457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5803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팀원들은 </a:t>
            </a:r>
            <a:r>
              <a:rPr lang="en-US" sz="1050" dirty="0" err="1">
                <a:solidFill>
                  <a:srgbClr val="15803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각자의</a:t>
            </a:r>
            <a:r>
              <a:rPr lang="en-US" sz="1050" dirty="0">
                <a:solidFill>
                  <a:srgbClr val="15803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 </a:t>
            </a:r>
            <a:r>
              <a:rPr lang="ko-KR" altLang="en-US" sz="1050" dirty="0">
                <a:solidFill>
                  <a:srgbClr val="15803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재능과 아이디어를</a:t>
            </a:r>
            <a:r>
              <a:rPr lang="en-US" sz="1050" dirty="0">
                <a:solidFill>
                  <a:srgbClr val="15803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 바탕으로 효율적인 협업을 통해 '우리 아이 성장 일지' 앱을 성공적으로 개발하였습니다.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10362456" y="6324600"/>
            <a:ext cx="14639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2025년 11월 18일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1" name="Image 19" descr="preencoded.png">
            <a:extLst>
              <a:ext uri="{FF2B5EF4-FFF2-40B4-BE49-F238E27FC236}">
                <a16:creationId xmlns:a16="http://schemas.microsoft.com/office/drawing/2014/main" id="{80E1D951-099D-4BFA-918A-10D89FF5C687}"/>
              </a:ext>
            </a:extLst>
          </p:cNvPr>
          <p:cNvPicPr>
            <a:picLocks noChangeAspect="1"/>
          </p:cNvPicPr>
          <p:nvPr/>
        </p:nvPicPr>
        <p:blipFill>
          <a:blip r:embed="rId2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61091" y="2076450"/>
            <a:ext cx="219075" cy="342900"/>
          </a:xfrm>
          <a:prstGeom prst="rect">
            <a:avLst/>
          </a:prstGeom>
        </p:spPr>
      </p:pic>
      <p:sp>
        <p:nvSpPr>
          <p:cNvPr id="42" name="Text 0">
            <a:extLst>
              <a:ext uri="{FF2B5EF4-FFF2-40B4-BE49-F238E27FC236}">
                <a16:creationId xmlns:a16="http://schemas.microsoft.com/office/drawing/2014/main" id="{42A210C1-61C4-45E8-8A69-2012CA6772D5}"/>
              </a:ext>
            </a:extLst>
          </p:cNvPr>
          <p:cNvSpPr/>
          <p:nvPr/>
        </p:nvSpPr>
        <p:spPr>
          <a:xfrm>
            <a:off x="10288349" y="266700"/>
            <a:ext cx="17512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ko-KR" altLang="en-US" sz="2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안드로드</a:t>
            </a:r>
            <a:endParaRPr 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19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048" y="1561740"/>
            <a:ext cx="3352800" cy="372445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2648" y="1790341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8373" y="1866541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2648" y="3047641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2648" y="3352441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2648" y="3657241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1562100"/>
            <a:ext cx="3390900" cy="14573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0" y="1752600"/>
            <a:ext cx="466725" cy="5048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6800" y="186690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0" y="1562100"/>
            <a:ext cx="3390900" cy="14573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0" y="1752600"/>
            <a:ext cx="419100" cy="5048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6300" y="186690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3248025"/>
            <a:ext cx="3390900" cy="16859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62500" y="3438525"/>
            <a:ext cx="419100" cy="50482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76800" y="3552825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91500" y="3248025"/>
            <a:ext cx="3390900" cy="168592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0" y="3438525"/>
            <a:ext cx="371475" cy="5048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96300" y="3552825"/>
            <a:ext cx="14287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10800000">
            <a:off x="952500" y="5410200"/>
            <a:ext cx="9753600" cy="1905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09600" y="60960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협업 툴 및 프로세스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1"/>
          <p:cNvSpPr/>
          <p:nvPr/>
        </p:nvSpPr>
        <p:spPr>
          <a:xfrm>
            <a:off x="1792248" y="1866541"/>
            <a:ext cx="230135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디스코드(Discord)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"/>
          <p:cNvSpPr/>
          <p:nvPr/>
        </p:nvSpPr>
        <p:spPr>
          <a:xfrm>
            <a:off x="1182648" y="2399941"/>
            <a:ext cx="2895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팀원 간 효율적인 소통과 협업을 위해 디스코드를 주요 협업 툴로 활용했습니다.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3"/>
          <p:cNvSpPr/>
          <p:nvPr/>
        </p:nvSpPr>
        <p:spPr>
          <a:xfrm>
            <a:off x="1411248" y="3009541"/>
            <a:ext cx="2032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실시간 음성 및 채팅 회의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4"/>
          <p:cNvSpPr/>
          <p:nvPr/>
        </p:nvSpPr>
        <p:spPr>
          <a:xfrm>
            <a:off x="1411248" y="3314341"/>
            <a:ext cx="1798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채널별 업무 분리 관리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5"/>
          <p:cNvSpPr/>
          <p:nvPr/>
        </p:nvSpPr>
        <p:spPr>
          <a:xfrm>
            <a:off x="1411248" y="3619141"/>
            <a:ext cx="14326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파일 공유 및 저장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6"/>
          <p:cNvSpPr/>
          <p:nvPr/>
        </p:nvSpPr>
        <p:spPr>
          <a:xfrm>
            <a:off x="5343525" y="1871663"/>
            <a:ext cx="12065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실시간 소통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7"/>
          <p:cNvSpPr/>
          <p:nvPr/>
        </p:nvSpPr>
        <p:spPr>
          <a:xfrm>
            <a:off x="4762500" y="2371725"/>
            <a:ext cx="3009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음성 채널을 통해 즉각적인 아이디어 공유 및 문제 해결이 가능했습니다.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8"/>
          <p:cNvSpPr/>
          <p:nvPr/>
        </p:nvSpPr>
        <p:spPr>
          <a:xfrm>
            <a:off x="8915400" y="1871663"/>
            <a:ext cx="977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역할 분담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9"/>
          <p:cNvSpPr/>
          <p:nvPr/>
        </p:nvSpPr>
        <p:spPr>
          <a:xfrm>
            <a:off x="8382000" y="2371725"/>
            <a:ext cx="3009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각자의 업무 진행 상황을 투명하게 공유하고, 필요한 경우 유연하게 역할을 조정했습니다.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5295900" y="3557588"/>
            <a:ext cx="12065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이슈 트래킹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4762500" y="4057650"/>
            <a:ext cx="3009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발생한 </a:t>
            </a:r>
            <a:r>
              <a:rPr lang="en-US" sz="1200" dirty="0" err="1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문제점이나</a:t>
            </a: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개선</a:t>
            </a:r>
            <a:r>
              <a:rPr lang="en-US" sz="1200" dirty="0" err="1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사항을</a:t>
            </a: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 채팅 채널에 기록하고 함께 논의하여 해결했습니다.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8867775" y="3557588"/>
            <a:ext cx="12065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회의록 관리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8382000" y="4057650"/>
            <a:ext cx="30099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공민승 팀원이 회의록을 체계적으로 작성하여 모든 팀원이 회의 내용을 쉽게 확인할 수 있도록 했습니다.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10362456" y="6324600"/>
            <a:ext cx="14639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2025년 11월 18일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0" name="그림 39" descr="스크린샷, 원, 그래픽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CE7BB2-B61A-2B36-F0AB-4846E6BB0C2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9323" y="3951994"/>
            <a:ext cx="2982250" cy="1125712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19200"/>
            <a:ext cx="762000" cy="381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609600" y="60960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프롬프트 및 회의록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11200954" y="6324600"/>
            <a:ext cx="4577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4/11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840B8BB-3939-4156-94CD-E1A60024EC7B}"/>
              </a:ext>
            </a:extLst>
          </p:cNvPr>
          <p:cNvSpPr/>
          <p:nvPr/>
        </p:nvSpPr>
        <p:spPr>
          <a:xfrm>
            <a:off x="1428750" y="2258430"/>
            <a:ext cx="309895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1. </a:t>
            </a:r>
            <a:r>
              <a:rPr lang="ko-KR" altLang="en-US" sz="18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프롬프트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7E3D8A-1A38-43F0-9864-64584371E155}"/>
              </a:ext>
            </a:extLst>
          </p:cNvPr>
          <p:cNvSpPr/>
          <p:nvPr/>
        </p:nvSpPr>
        <p:spPr>
          <a:xfrm>
            <a:off x="1428750" y="3989971"/>
            <a:ext cx="245387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8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2. </a:t>
            </a:r>
            <a:r>
              <a:rPr lang="ko-KR" altLang="en-US" sz="18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회의록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ts val="2400"/>
              </a:lnSpc>
              <a:buNone/>
            </a:pP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4">
            <a:hlinkClick r:id="rId6"/>
            <a:extLst>
              <a:ext uri="{FF2B5EF4-FFF2-40B4-BE49-F238E27FC236}">
                <a16:creationId xmlns:a16="http://schemas.microsoft.com/office/drawing/2014/main" id="{06E2E337-90BF-47F4-9643-F1C7C5B868FE}"/>
              </a:ext>
            </a:extLst>
          </p:cNvPr>
          <p:cNvSpPr/>
          <p:nvPr/>
        </p:nvSpPr>
        <p:spPr>
          <a:xfrm>
            <a:off x="1428749" y="4395460"/>
            <a:ext cx="90529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https://github.com/kimsungbo1593/hybrid/blob/main/1112%20TeamProject/etc/BabyGrowth%20Team%20Proceedings.txt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4">
            <a:hlinkClick r:id="rId7"/>
            <a:extLst>
              <a:ext uri="{FF2B5EF4-FFF2-40B4-BE49-F238E27FC236}">
                <a16:creationId xmlns:a16="http://schemas.microsoft.com/office/drawing/2014/main" id="{F01037C5-64EA-496C-90A8-BAC01665356F}"/>
              </a:ext>
            </a:extLst>
          </p:cNvPr>
          <p:cNvSpPr/>
          <p:nvPr/>
        </p:nvSpPr>
        <p:spPr>
          <a:xfrm>
            <a:off x="1428750" y="2663919"/>
            <a:ext cx="854419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https://github.com/kimsungbo1593/hybrid/blob/main/1112%20TeamProject/etc/BabyGrowth%20html%20Prompt.txt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1669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19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85900"/>
            <a:ext cx="447675" cy="5048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600200"/>
            <a:ext cx="2190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905125"/>
            <a:ext cx="6278761" cy="1104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019425"/>
            <a:ext cx="3048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1146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124325"/>
            <a:ext cx="6278761" cy="1333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4238625"/>
            <a:ext cx="3429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4333875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48814" y="2914650"/>
            <a:ext cx="114300" cy="114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48814" y="3867150"/>
            <a:ext cx="114300" cy="114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48814" y="4819650"/>
            <a:ext cx="114300" cy="114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32055" y="1985963"/>
            <a:ext cx="3511153" cy="1409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4757" y="2138363"/>
            <a:ext cx="285750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32055" y="3548063"/>
            <a:ext cx="3511153" cy="1409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44757" y="3700463"/>
            <a:ext cx="285750" cy="3429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60960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 err="1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프로젝트</a:t>
            </a:r>
            <a:r>
              <a:rPr lang="en-US" sz="36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 </a:t>
            </a:r>
            <a:r>
              <a:rPr lang="ko-KR" altLang="en-US" sz="36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소개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"/>
          <p:cNvSpPr/>
          <p:nvPr/>
        </p:nvSpPr>
        <p:spPr>
          <a:xfrm>
            <a:off x="1209675" y="1585913"/>
            <a:ext cx="242333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우리 아이 성장 일지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2"/>
          <p:cNvSpPr/>
          <p:nvPr/>
        </p:nvSpPr>
        <p:spPr>
          <a:xfrm>
            <a:off x="1219200" y="2066925"/>
            <a:ext cx="566916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아이의 성장 과정을 기록하고 공유하는 하이브리드 모바일 애플리케이션. 부모님들이 아이의 사진과 함께 특별한 순간들을 쉽게 기록하고, 시간의 흐름에 따라 아이의 성장을 한눈에 볼 수 있습니다.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3"/>
          <p:cNvSpPr/>
          <p:nvPr/>
        </p:nvSpPr>
        <p:spPr>
          <a:xfrm>
            <a:off x="1143000" y="3076575"/>
            <a:ext cx="457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목표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4"/>
          <p:cNvSpPr/>
          <p:nvPr/>
        </p:nvSpPr>
        <p:spPr>
          <a:xfrm>
            <a:off x="1181100" y="3438525"/>
            <a:ext cx="559296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웹 기술의 유연성과 네이티브 앱의 접근성을 결합하여, 사용자 친화적 인터페이스로 아이와의 추억을 간직할 수 있도록 지원합니다.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5"/>
          <p:cNvSpPr/>
          <p:nvPr/>
        </p:nvSpPr>
        <p:spPr>
          <a:xfrm>
            <a:off x="1181100" y="4295775"/>
            <a:ext cx="9779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기술 스택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6"/>
          <p:cNvSpPr/>
          <p:nvPr/>
        </p:nvSpPr>
        <p:spPr>
          <a:xfrm>
            <a:off x="1190625" y="4657725"/>
            <a:ext cx="57834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Apache Cordova 기반 하이브리드 앱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7"/>
          <p:cNvSpPr/>
          <p:nvPr/>
        </p:nvSpPr>
        <p:spPr>
          <a:xfrm>
            <a:off x="1190625" y="4886325"/>
            <a:ext cx="57834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웹 기술 (HTML, CSS, JavaScript)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8"/>
          <p:cNvSpPr/>
          <p:nvPr/>
        </p:nvSpPr>
        <p:spPr>
          <a:xfrm>
            <a:off x="1190625" y="5114925"/>
            <a:ext cx="57834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웹 브라우저 내장 </a:t>
            </a:r>
            <a:r>
              <a:rPr lang="en-US" altLang="ko-KR" sz="120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API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9"/>
          <p:cNvSpPr/>
          <p:nvPr/>
        </p:nvSpPr>
        <p:spPr>
          <a:xfrm>
            <a:off x="7784455" y="2557463"/>
            <a:ext cx="32063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사진 촬영 &amp; 갤러리 연동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7784455" y="2862263"/>
            <a:ext cx="320635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아이의 성장 순간을 사진으로 기록하고 갤러리에서 사진을 불러와 일지에 추가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7784455" y="4119562"/>
            <a:ext cx="32063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감성적인 디자인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7784455" y="4424363"/>
            <a:ext cx="320635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직관적이고 간단한 디자인으로 모든 연령 대에 친화적인 디자인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CF0F0287-209A-4055-AD4B-7A7EDD7AD239}"/>
              </a:ext>
            </a:extLst>
          </p:cNvPr>
          <p:cNvSpPr/>
          <p:nvPr/>
        </p:nvSpPr>
        <p:spPr>
          <a:xfrm>
            <a:off x="11200954" y="6324600"/>
            <a:ext cx="4577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5/11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D6703B35-C4EE-453B-962F-8060B612C285}"/>
              </a:ext>
            </a:extLst>
          </p:cNvPr>
          <p:cNvSpPr/>
          <p:nvPr/>
        </p:nvSpPr>
        <p:spPr>
          <a:xfrm>
            <a:off x="1181100" y="5343525"/>
            <a:ext cx="57834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Android 플랫폼 주력 개발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81" y="1974056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581" y="2374106"/>
            <a:ext cx="5334000" cy="1066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981" y="2655094"/>
            <a:ext cx="466725" cy="5048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281" y="2769394"/>
            <a:ext cx="23812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581" y="3555206"/>
            <a:ext cx="5334000" cy="1066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981" y="3836194"/>
            <a:ext cx="447675" cy="5048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281" y="3950494"/>
            <a:ext cx="21907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7390" y="1371600"/>
            <a:ext cx="5638800" cy="4648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1181" y="1974056"/>
            <a:ext cx="285750" cy="228600"/>
          </a:xfrm>
          <a:prstGeom prst="rect">
            <a:avLst/>
          </a:prstGeom>
        </p:spPr>
      </p:pic>
      <p:sp>
        <p:nvSpPr>
          <p:cNvPr id="24" name="Text 1"/>
          <p:cNvSpPr/>
          <p:nvPr/>
        </p:nvSpPr>
        <p:spPr>
          <a:xfrm>
            <a:off x="952381" y="1955006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개발 환경 및 툴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"/>
          <p:cNvSpPr/>
          <p:nvPr/>
        </p:nvSpPr>
        <p:spPr>
          <a:xfrm>
            <a:off x="1419106" y="2526506"/>
            <a:ext cx="4410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Visual Studio Code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3"/>
          <p:cNvSpPr/>
          <p:nvPr/>
        </p:nvSpPr>
        <p:spPr>
          <a:xfrm>
            <a:off x="1419106" y="2831306"/>
            <a:ext cx="4410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코드 편집 기능과 다양한 확장 프로그램으로 Cordova 프로젝트 개발에 최적화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4"/>
          <p:cNvSpPr/>
          <p:nvPr/>
        </p:nvSpPr>
        <p:spPr>
          <a:xfrm>
            <a:off x="1400056" y="3707606"/>
            <a:ext cx="44291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Cordova CLI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5"/>
          <p:cNvSpPr/>
          <p:nvPr/>
        </p:nvSpPr>
        <p:spPr>
          <a:xfrm>
            <a:off x="1400056" y="4012406"/>
            <a:ext cx="44291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프로젝트 생성, 플랫폼 추가, 플러그인 설치, 빌드 및 실행 등 프로젝트 관리 자동화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6"/>
          <p:cNvSpPr/>
          <p:nvPr/>
        </p:nvSpPr>
        <p:spPr>
          <a:xfrm>
            <a:off x="6953131" y="1955006"/>
            <a:ext cx="5334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altLang="ko-KR" b="1" dirty="0">
                <a:solidFill>
                  <a:srgbClr val="15803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AI </a:t>
            </a:r>
            <a:r>
              <a:rPr lang="ko-KR" altLang="en-US" b="1" dirty="0">
                <a:solidFill>
                  <a:srgbClr val="15803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모델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457200" y="6210300"/>
            <a:ext cx="316218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우리 아이 성장 일지 | </a:t>
            </a:r>
            <a:r>
              <a:rPr lang="en-US" sz="1050" dirty="0" err="1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개발</a:t>
            </a: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 툴 </a:t>
            </a:r>
            <a:r>
              <a:rPr lang="ko-KR" alt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및 </a:t>
            </a:r>
            <a:r>
              <a:rPr lang="en-US" altLang="ko-KR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AI </a:t>
            </a:r>
            <a:r>
              <a:rPr lang="ko-KR" alt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모델</a:t>
            </a:r>
            <a:r>
              <a:rPr lang="en-US" sz="105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 소개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9" name="Image 4" descr="preencoded.png">
            <a:extLst>
              <a:ext uri="{FF2B5EF4-FFF2-40B4-BE49-F238E27FC236}">
                <a16:creationId xmlns:a16="http://schemas.microsoft.com/office/drawing/2014/main" id="{FE4FD0ED-92C9-15C0-B6E5-CE6B3656AD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656" y="2739288"/>
            <a:ext cx="4410075" cy="609600"/>
          </a:xfrm>
          <a:prstGeom prst="rect">
            <a:avLst/>
          </a:prstGeom>
        </p:spPr>
      </p:pic>
      <p:pic>
        <p:nvPicPr>
          <p:cNvPr id="40" name="Image 5" descr="preencoded.png">
            <a:extLst>
              <a:ext uri="{FF2B5EF4-FFF2-40B4-BE49-F238E27FC236}">
                <a16:creationId xmlns:a16="http://schemas.microsoft.com/office/drawing/2014/main" id="{41F20C57-056F-CBD9-9002-266E52DE6F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2618" y="2778918"/>
            <a:ext cx="466725" cy="504825"/>
          </a:xfrm>
          <a:prstGeom prst="rect">
            <a:avLst/>
          </a:prstGeom>
        </p:spPr>
      </p:pic>
      <p:pic>
        <p:nvPicPr>
          <p:cNvPr id="41" name="Image 6" descr="preencoded.png">
            <a:extLst>
              <a:ext uri="{FF2B5EF4-FFF2-40B4-BE49-F238E27FC236}">
                <a16:creationId xmlns:a16="http://schemas.microsoft.com/office/drawing/2014/main" id="{79D59476-6CAC-7514-3435-E6D5F27BB7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6918" y="2893218"/>
            <a:ext cx="238125" cy="266700"/>
          </a:xfrm>
          <a:prstGeom prst="rect">
            <a:avLst/>
          </a:prstGeom>
        </p:spPr>
      </p:pic>
      <p:sp>
        <p:nvSpPr>
          <p:cNvPr id="42" name="Text 2">
            <a:extLst>
              <a:ext uri="{FF2B5EF4-FFF2-40B4-BE49-F238E27FC236}">
                <a16:creationId xmlns:a16="http://schemas.microsoft.com/office/drawing/2014/main" id="{A52DC057-3324-CFA6-FFFB-94E607A6E356}"/>
              </a:ext>
            </a:extLst>
          </p:cNvPr>
          <p:cNvSpPr/>
          <p:nvPr/>
        </p:nvSpPr>
        <p:spPr>
          <a:xfrm>
            <a:off x="7353181" y="2921794"/>
            <a:ext cx="4410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Claude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4" name="Image 4" descr="preencoded.png">
            <a:extLst>
              <a:ext uri="{FF2B5EF4-FFF2-40B4-BE49-F238E27FC236}">
                <a16:creationId xmlns:a16="http://schemas.microsoft.com/office/drawing/2014/main" id="{8E5C83D4-35E6-69B4-B39A-8B607989BD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157" y="3478284"/>
            <a:ext cx="4410075" cy="609600"/>
          </a:xfrm>
          <a:prstGeom prst="rect">
            <a:avLst/>
          </a:prstGeom>
        </p:spPr>
      </p:pic>
      <p:pic>
        <p:nvPicPr>
          <p:cNvPr id="45" name="Image 5" descr="preencoded.png">
            <a:extLst>
              <a:ext uri="{FF2B5EF4-FFF2-40B4-BE49-F238E27FC236}">
                <a16:creationId xmlns:a16="http://schemas.microsoft.com/office/drawing/2014/main" id="{CE08AFE7-1490-E7C1-A889-80020E85AC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1119" y="3517914"/>
            <a:ext cx="466725" cy="504825"/>
          </a:xfrm>
          <a:prstGeom prst="rect">
            <a:avLst/>
          </a:prstGeom>
        </p:spPr>
      </p:pic>
      <p:pic>
        <p:nvPicPr>
          <p:cNvPr id="46" name="Image 6" descr="preencoded.png">
            <a:extLst>
              <a:ext uri="{FF2B5EF4-FFF2-40B4-BE49-F238E27FC236}">
                <a16:creationId xmlns:a16="http://schemas.microsoft.com/office/drawing/2014/main" id="{5CE614D9-1F68-6B6F-3C2D-CDF6F8546C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5419" y="3632214"/>
            <a:ext cx="238125" cy="266700"/>
          </a:xfrm>
          <a:prstGeom prst="rect">
            <a:avLst/>
          </a:prstGeom>
        </p:spPr>
      </p:pic>
      <p:sp>
        <p:nvSpPr>
          <p:cNvPr id="47" name="Text 2">
            <a:extLst>
              <a:ext uri="{FF2B5EF4-FFF2-40B4-BE49-F238E27FC236}">
                <a16:creationId xmlns:a16="http://schemas.microsoft.com/office/drawing/2014/main" id="{5578B8F8-FD7A-AC1A-54E6-AE6B8AE169F3}"/>
              </a:ext>
            </a:extLst>
          </p:cNvPr>
          <p:cNvSpPr/>
          <p:nvPr/>
        </p:nvSpPr>
        <p:spPr>
          <a:xfrm>
            <a:off x="7341682" y="3660790"/>
            <a:ext cx="4410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Chat-GPT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8" name="Image 4" descr="preencoded.png">
            <a:extLst>
              <a:ext uri="{FF2B5EF4-FFF2-40B4-BE49-F238E27FC236}">
                <a16:creationId xmlns:a16="http://schemas.microsoft.com/office/drawing/2014/main" id="{6C776F16-594B-39AC-4BDC-4E013E41A8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181" y="4217194"/>
            <a:ext cx="4410075" cy="609600"/>
          </a:xfrm>
          <a:prstGeom prst="rect">
            <a:avLst/>
          </a:prstGeom>
        </p:spPr>
      </p:pic>
      <p:pic>
        <p:nvPicPr>
          <p:cNvPr id="49" name="Image 5" descr="preencoded.png">
            <a:extLst>
              <a:ext uri="{FF2B5EF4-FFF2-40B4-BE49-F238E27FC236}">
                <a16:creationId xmlns:a16="http://schemas.microsoft.com/office/drawing/2014/main" id="{91830066-DA57-A66E-4977-23F23C29B6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2143" y="4256824"/>
            <a:ext cx="466725" cy="504825"/>
          </a:xfrm>
          <a:prstGeom prst="rect">
            <a:avLst/>
          </a:prstGeom>
        </p:spPr>
      </p:pic>
      <p:pic>
        <p:nvPicPr>
          <p:cNvPr id="50" name="Image 6" descr="preencoded.png">
            <a:extLst>
              <a:ext uri="{FF2B5EF4-FFF2-40B4-BE49-F238E27FC236}">
                <a16:creationId xmlns:a16="http://schemas.microsoft.com/office/drawing/2014/main" id="{58732FC3-747E-6EFC-666A-A7264423AA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6443" y="4371124"/>
            <a:ext cx="238125" cy="266700"/>
          </a:xfrm>
          <a:prstGeom prst="rect">
            <a:avLst/>
          </a:prstGeom>
        </p:spPr>
      </p:pic>
      <p:sp>
        <p:nvSpPr>
          <p:cNvPr id="51" name="Text 2">
            <a:extLst>
              <a:ext uri="{FF2B5EF4-FFF2-40B4-BE49-F238E27FC236}">
                <a16:creationId xmlns:a16="http://schemas.microsoft.com/office/drawing/2014/main" id="{13C16282-5E3A-B89D-1413-895A79900B52}"/>
              </a:ext>
            </a:extLst>
          </p:cNvPr>
          <p:cNvSpPr/>
          <p:nvPr/>
        </p:nvSpPr>
        <p:spPr>
          <a:xfrm>
            <a:off x="7362706" y="4399700"/>
            <a:ext cx="4410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Google Gemini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315A01DF-6197-4D54-801A-9311207C3178}"/>
              </a:ext>
            </a:extLst>
          </p:cNvPr>
          <p:cNvSpPr/>
          <p:nvPr/>
        </p:nvSpPr>
        <p:spPr>
          <a:xfrm>
            <a:off x="11200954" y="6324600"/>
            <a:ext cx="4577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6/11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408EDDD8-04ED-417A-8670-541D5A9302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1219200"/>
            <a:ext cx="762000" cy="38100"/>
          </a:xfrm>
          <a:prstGeom prst="rect">
            <a:avLst/>
          </a:prstGeom>
        </p:spPr>
      </p:pic>
      <p:sp>
        <p:nvSpPr>
          <p:cNvPr id="43" name="Text 0">
            <a:extLst>
              <a:ext uri="{FF2B5EF4-FFF2-40B4-BE49-F238E27FC236}">
                <a16:creationId xmlns:a16="http://schemas.microsoft.com/office/drawing/2014/main" id="{913FD309-02F8-4176-9125-6D81D09A35AE}"/>
              </a:ext>
            </a:extLst>
          </p:cNvPr>
          <p:cNvSpPr/>
          <p:nvPr/>
        </p:nvSpPr>
        <p:spPr>
          <a:xfrm>
            <a:off x="609600" y="60960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툴 및 </a:t>
            </a:r>
            <a:r>
              <a:rPr lang="en-US" altLang="ko-KR" sz="36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36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 소개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192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562100"/>
            <a:ext cx="5181600" cy="1409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752600"/>
            <a:ext cx="419100" cy="5048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18669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971800"/>
            <a:ext cx="5181600" cy="118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162300"/>
            <a:ext cx="447675" cy="5048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3276600"/>
            <a:ext cx="21907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152900"/>
            <a:ext cx="5181600" cy="1181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354" y="4343400"/>
            <a:ext cx="400050" cy="5048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4654" y="4457700"/>
            <a:ext cx="171450" cy="2667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60960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앱 주요 기능 및 디자인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"/>
          <p:cNvSpPr/>
          <p:nvPr/>
        </p:nvSpPr>
        <p:spPr>
          <a:xfrm>
            <a:off x="1371600" y="1752600"/>
            <a:ext cx="4229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사진 촬영 및 갤러리 연동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2"/>
          <p:cNvSpPr/>
          <p:nvPr/>
        </p:nvSpPr>
        <p:spPr>
          <a:xfrm>
            <a:off x="1371600" y="2095500"/>
            <a:ext cx="4229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cordova</a:t>
            </a: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-plugin-camera </a:t>
            </a:r>
            <a:r>
              <a:rPr lang="ko-KR" alt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플러그인</a:t>
            </a: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을 활용하여 앱 내에서 직접 사진을 촬영하거나, 기기의 갤러리에서 기존 사진을 불러와 성장 일지에 첨부할 수 있습니다.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3"/>
          <p:cNvSpPr/>
          <p:nvPr/>
        </p:nvSpPr>
        <p:spPr>
          <a:xfrm>
            <a:off x="1400175" y="3162300"/>
            <a:ext cx="42005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성장 일지 작성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4"/>
          <p:cNvSpPr/>
          <p:nvPr/>
        </p:nvSpPr>
        <p:spPr>
          <a:xfrm>
            <a:off x="1400175" y="3505200"/>
            <a:ext cx="42005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사진과 함께 아이의 성장 기록, 특별한 에피소드, 감정 등을 텍스트로 자유롭게 작성할 수 있습니다.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5"/>
          <p:cNvSpPr/>
          <p:nvPr/>
        </p:nvSpPr>
        <p:spPr>
          <a:xfrm>
            <a:off x="6952804" y="4343400"/>
            <a:ext cx="4248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간편한 저장 및 관리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6"/>
          <p:cNvSpPr/>
          <p:nvPr/>
        </p:nvSpPr>
        <p:spPr>
          <a:xfrm>
            <a:off x="6952804" y="4686300"/>
            <a:ext cx="4248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작성된 일지는 </a:t>
            </a:r>
            <a:r>
              <a:rPr lang="en-US" sz="1200" dirty="0" err="1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안전하게</a:t>
            </a: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저장되</a:t>
            </a:r>
            <a:r>
              <a:rPr lang="ko-KR" alt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며 </a:t>
            </a:r>
            <a:r>
              <a:rPr lang="en-US" sz="1200" dirty="0" err="1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아이의</a:t>
            </a: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 성장 과정을 한눈에 파악할 수 있도록 돕습니다.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11200954" y="6324600"/>
            <a:ext cx="4577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7/11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7" name="Image 6" descr="preencoded.png">
            <a:extLst>
              <a:ext uri="{FF2B5EF4-FFF2-40B4-BE49-F238E27FC236}">
                <a16:creationId xmlns:a16="http://schemas.microsoft.com/office/drawing/2014/main" id="{F344930E-5FCB-4B2F-B2C2-55398BEF9A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2971800"/>
            <a:ext cx="5181600" cy="1181100"/>
          </a:xfrm>
          <a:prstGeom prst="rect">
            <a:avLst/>
          </a:prstGeom>
        </p:spPr>
      </p:pic>
      <p:pic>
        <p:nvPicPr>
          <p:cNvPr id="28" name="Image 7" descr="preencoded.png">
            <a:extLst>
              <a:ext uri="{FF2B5EF4-FFF2-40B4-BE49-F238E27FC236}">
                <a16:creationId xmlns:a16="http://schemas.microsoft.com/office/drawing/2014/main" id="{31DC7667-77F1-41DE-B746-7BF4925D6C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162300"/>
            <a:ext cx="447675" cy="504825"/>
          </a:xfrm>
          <a:prstGeom prst="rect">
            <a:avLst/>
          </a:prstGeom>
        </p:spPr>
      </p:pic>
      <p:pic>
        <p:nvPicPr>
          <p:cNvPr id="30" name="Image 8" descr="preencoded.png">
            <a:extLst>
              <a:ext uri="{FF2B5EF4-FFF2-40B4-BE49-F238E27FC236}">
                <a16:creationId xmlns:a16="http://schemas.microsoft.com/office/drawing/2014/main" id="{7C90A455-60E0-4666-A6F9-1624910311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3276600"/>
            <a:ext cx="219075" cy="266700"/>
          </a:xfrm>
          <a:prstGeom prst="rect">
            <a:avLst/>
          </a:prstGeom>
        </p:spPr>
      </p:pic>
      <p:sp>
        <p:nvSpPr>
          <p:cNvPr id="31" name="Text 3">
            <a:extLst>
              <a:ext uri="{FF2B5EF4-FFF2-40B4-BE49-F238E27FC236}">
                <a16:creationId xmlns:a16="http://schemas.microsoft.com/office/drawing/2014/main" id="{616E2DEA-7BA8-44F6-82C6-6509AD62A3A3}"/>
              </a:ext>
            </a:extLst>
          </p:cNvPr>
          <p:cNvSpPr/>
          <p:nvPr/>
        </p:nvSpPr>
        <p:spPr>
          <a:xfrm>
            <a:off x="7000875" y="3162300"/>
            <a:ext cx="42005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성장</a:t>
            </a:r>
            <a:r>
              <a:rPr 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 </a:t>
            </a:r>
            <a:r>
              <a:rPr lang="ko-KR" alt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데이터 기록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8C522C53-E881-48F4-A395-6E327956687A}"/>
              </a:ext>
            </a:extLst>
          </p:cNvPr>
          <p:cNvSpPr/>
          <p:nvPr/>
        </p:nvSpPr>
        <p:spPr>
          <a:xfrm>
            <a:off x="7000875" y="3505200"/>
            <a:ext cx="42005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아이의 키와 몸무게를 날짜별로 기록하고 성장 그래프로 한눈에 볼 수 있습니다</a:t>
            </a: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3" name="Image 6" descr="preencoded.png">
            <a:extLst>
              <a:ext uri="{FF2B5EF4-FFF2-40B4-BE49-F238E27FC236}">
                <a16:creationId xmlns:a16="http://schemas.microsoft.com/office/drawing/2014/main" id="{427C35CE-CAFE-4494-A7B4-393A598F3B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156395"/>
            <a:ext cx="5181600" cy="1181100"/>
          </a:xfrm>
          <a:prstGeom prst="rect">
            <a:avLst/>
          </a:prstGeom>
        </p:spPr>
      </p:pic>
      <p:pic>
        <p:nvPicPr>
          <p:cNvPr id="34" name="Image 7" descr="preencoded.png">
            <a:extLst>
              <a:ext uri="{FF2B5EF4-FFF2-40B4-BE49-F238E27FC236}">
                <a16:creationId xmlns:a16="http://schemas.microsoft.com/office/drawing/2014/main" id="{194EDEFC-049E-4934-909F-7A35FA10BB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346895"/>
            <a:ext cx="447675" cy="504825"/>
          </a:xfrm>
          <a:prstGeom prst="rect">
            <a:avLst/>
          </a:prstGeom>
        </p:spPr>
      </p:pic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CB7F7798-E6E7-47BC-8EA4-8F224DA44D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4461195"/>
            <a:ext cx="219075" cy="266700"/>
          </a:xfrm>
          <a:prstGeom prst="rect">
            <a:avLst/>
          </a:prstGeom>
        </p:spPr>
      </p:pic>
      <p:sp>
        <p:nvSpPr>
          <p:cNvPr id="36" name="Text 3">
            <a:extLst>
              <a:ext uri="{FF2B5EF4-FFF2-40B4-BE49-F238E27FC236}">
                <a16:creationId xmlns:a16="http://schemas.microsoft.com/office/drawing/2014/main" id="{ADE5E07B-7DD6-4D37-8BE4-08E632C70F35}"/>
              </a:ext>
            </a:extLst>
          </p:cNvPr>
          <p:cNvSpPr/>
          <p:nvPr/>
        </p:nvSpPr>
        <p:spPr>
          <a:xfrm>
            <a:off x="1400175" y="4346895"/>
            <a:ext cx="42005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37415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일정 저장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9D17F8AA-82F6-4EF0-8D20-951988185D82}"/>
              </a:ext>
            </a:extLst>
          </p:cNvPr>
          <p:cNvSpPr/>
          <p:nvPr/>
        </p:nvSpPr>
        <p:spPr>
          <a:xfrm>
            <a:off x="1400175" y="4689795"/>
            <a:ext cx="42005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아이의 병원이나 예방</a:t>
            </a:r>
            <a:r>
              <a:rPr lang="en-US" altLang="ko-KR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 </a:t>
            </a:r>
            <a:r>
              <a:rPr lang="ko-KR" alt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접종 등의 날짜와 시간을 알림 설정 후 저장할 수 있습니다 </a:t>
            </a:r>
            <a:r>
              <a:rPr lang="en-US" sz="1200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.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19200"/>
            <a:ext cx="762000" cy="381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609600" y="60960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주요 사용 플러그인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2C0A3DC-7A02-4C0E-90DF-9BB64A755CF0}"/>
              </a:ext>
            </a:extLst>
          </p:cNvPr>
          <p:cNvGrpSpPr/>
          <p:nvPr/>
        </p:nvGrpSpPr>
        <p:grpSpPr>
          <a:xfrm>
            <a:off x="609600" y="2383368"/>
            <a:ext cx="5701248" cy="762000"/>
            <a:chOff x="6172200" y="1485900"/>
            <a:chExt cx="5701248" cy="762000"/>
          </a:xfrm>
        </p:grpSpPr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2200" y="1485900"/>
              <a:ext cx="5410200" cy="7620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86500" y="1600200"/>
              <a:ext cx="476250" cy="476250"/>
            </a:xfrm>
            <a:prstGeom prst="rect">
              <a:avLst/>
            </a:prstGeom>
          </p:spPr>
        </p:pic>
        <p:sp>
          <p:nvSpPr>
            <p:cNvPr id="30" name="Text 1"/>
            <p:cNvSpPr/>
            <p:nvPr/>
          </p:nvSpPr>
          <p:spPr>
            <a:xfrm>
              <a:off x="6915150" y="1600200"/>
              <a:ext cx="4958298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2100"/>
                </a:lnSpc>
              </a:pPr>
              <a:r>
                <a:rPr lang="en-US" altLang="ko-KR" sz="16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cordova</a:t>
              </a:r>
              <a:r>
                <a: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-plugin-android-permissions</a:t>
              </a:r>
              <a:endParaRPr 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1" name="Text 2"/>
            <p:cNvSpPr/>
            <p:nvPr/>
          </p:nvSpPr>
          <p:spPr>
            <a:xfrm>
              <a:off x="6915150" y="1905000"/>
              <a:ext cx="4958298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Android </a:t>
              </a: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런타임 권한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요청 및 관리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F723780-8E77-4ED7-929C-B3E5DC73A036}"/>
              </a:ext>
            </a:extLst>
          </p:cNvPr>
          <p:cNvGrpSpPr/>
          <p:nvPr/>
        </p:nvGrpSpPr>
        <p:grpSpPr>
          <a:xfrm>
            <a:off x="6172200" y="2400300"/>
            <a:ext cx="5410200" cy="762000"/>
            <a:chOff x="6172200" y="2400300"/>
            <a:chExt cx="5410200" cy="762000"/>
          </a:xfrm>
        </p:grpSpPr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2200" y="2400300"/>
              <a:ext cx="5410200" cy="76200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86500" y="2514600"/>
              <a:ext cx="476250" cy="476250"/>
            </a:xfrm>
            <a:prstGeom prst="rect">
              <a:avLst/>
            </a:prstGeom>
          </p:spPr>
        </p:pic>
        <p:sp>
          <p:nvSpPr>
            <p:cNvPr id="34" name="Text 5"/>
            <p:cNvSpPr/>
            <p:nvPr/>
          </p:nvSpPr>
          <p:spPr>
            <a:xfrm>
              <a:off x="6915150" y="2514600"/>
              <a:ext cx="3404008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2100"/>
                </a:lnSpc>
              </a:pPr>
              <a:r>
                <a:rPr lang="en-US" altLang="ko-KR" sz="16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cordova</a:t>
              </a:r>
              <a:r>
                <a: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-plugin-</a:t>
              </a:r>
              <a:r>
                <a:rPr lang="en-US" altLang="ko-KR" sz="16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androidx</a:t>
              </a:r>
              <a:r>
                <a: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-adapter</a:t>
              </a:r>
              <a:endParaRPr 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5" name="Text 6"/>
            <p:cNvSpPr/>
            <p:nvPr/>
          </p:nvSpPr>
          <p:spPr>
            <a:xfrm>
              <a:off x="6915150" y="2841596"/>
              <a:ext cx="3108093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최신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Android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개발 환경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</a:t>
              </a:r>
              <a:r>
                <a:rPr lang="en-US" altLang="ko-KR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AndroidX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) </a:t>
              </a: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호환성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지원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CDCB4C81-7CAD-488A-BA61-525BC6E97BA3}"/>
              </a:ext>
            </a:extLst>
          </p:cNvPr>
          <p:cNvGrpSpPr/>
          <p:nvPr/>
        </p:nvGrpSpPr>
        <p:grpSpPr>
          <a:xfrm>
            <a:off x="609600" y="3314700"/>
            <a:ext cx="5410200" cy="762000"/>
            <a:chOff x="609600" y="3314700"/>
            <a:chExt cx="5410200" cy="762000"/>
          </a:xfrm>
        </p:grpSpPr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9600" y="3314700"/>
              <a:ext cx="5410200" cy="7620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23900" y="3429000"/>
              <a:ext cx="476250" cy="476250"/>
            </a:xfrm>
            <a:prstGeom prst="rect">
              <a:avLst/>
            </a:prstGeom>
          </p:spPr>
        </p:pic>
        <p:sp>
          <p:nvSpPr>
            <p:cNvPr id="38" name="Text 9"/>
            <p:cNvSpPr/>
            <p:nvPr/>
          </p:nvSpPr>
          <p:spPr>
            <a:xfrm>
              <a:off x="1352550" y="3429000"/>
              <a:ext cx="3936921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2100"/>
                </a:lnSpc>
              </a:pPr>
              <a:r>
                <a:rPr lang="en-US" altLang="ko-KR" sz="16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cordova</a:t>
              </a:r>
              <a:r>
                <a: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-plugin-camera</a:t>
              </a:r>
              <a:endParaRPr 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9" name="Text 10"/>
            <p:cNvSpPr/>
            <p:nvPr/>
          </p:nvSpPr>
          <p:spPr>
            <a:xfrm>
              <a:off x="1352550" y="3733800"/>
              <a:ext cx="3280767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카메라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사용 및 사진 갤러리 접근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E6254B-99D4-4AE8-9D5F-33EF480C5C5C}"/>
              </a:ext>
            </a:extLst>
          </p:cNvPr>
          <p:cNvGrpSpPr/>
          <p:nvPr/>
        </p:nvGrpSpPr>
        <p:grpSpPr>
          <a:xfrm>
            <a:off x="609600" y="1481667"/>
            <a:ext cx="5410200" cy="762000"/>
            <a:chOff x="609600" y="1481667"/>
            <a:chExt cx="5410200" cy="762000"/>
          </a:xfrm>
        </p:grpSpPr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9600" y="1481667"/>
              <a:ext cx="5410200" cy="76200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10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23900" y="1595967"/>
              <a:ext cx="476250" cy="476250"/>
            </a:xfrm>
            <a:prstGeom prst="rect">
              <a:avLst/>
            </a:prstGeom>
          </p:spPr>
        </p:pic>
        <p:sp>
          <p:nvSpPr>
            <p:cNvPr id="40" name="Text 11"/>
            <p:cNvSpPr/>
            <p:nvPr/>
          </p:nvSpPr>
          <p:spPr>
            <a:xfrm>
              <a:off x="1352550" y="1595967"/>
              <a:ext cx="2794278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6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Nanum Square" pitchFamily="34" charset="-120"/>
                </a:rPr>
                <a:t>cordova-plugin-file</a:t>
              </a:r>
              <a:endParaRPr lang="en-US" sz="15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1" name="Text 12"/>
            <p:cNvSpPr/>
            <p:nvPr/>
          </p:nvSpPr>
          <p:spPr>
            <a:xfrm>
              <a:off x="1352550" y="1900767"/>
              <a:ext cx="2794278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Nanum Square" pitchFamily="34" charset="-120"/>
                </a:rPr>
                <a:t>파일 시스템 접근 및 조작 API 제공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6AF2A30-4C18-46A4-B413-E1E6685985D0}"/>
              </a:ext>
            </a:extLst>
          </p:cNvPr>
          <p:cNvGrpSpPr/>
          <p:nvPr/>
        </p:nvGrpSpPr>
        <p:grpSpPr>
          <a:xfrm>
            <a:off x="6172200" y="4271433"/>
            <a:ext cx="5410200" cy="762000"/>
            <a:chOff x="609600" y="4229100"/>
            <a:chExt cx="5410200" cy="762000"/>
          </a:xfrm>
        </p:grpSpPr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09600" y="4229100"/>
              <a:ext cx="5410200" cy="762000"/>
            </a:xfrm>
            <a:prstGeom prst="rect">
              <a:avLst/>
            </a:prstGeom>
          </p:spPr>
        </p:pic>
        <p:pic>
          <p:nvPicPr>
            <p:cNvPr id="24" name="Image 22" descr="preencoded.png"/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23900" y="4343400"/>
              <a:ext cx="476250" cy="476250"/>
            </a:xfrm>
            <a:prstGeom prst="rect">
              <a:avLst/>
            </a:prstGeom>
          </p:spPr>
        </p:pic>
        <p:sp>
          <p:nvSpPr>
            <p:cNvPr id="42" name="Text 13"/>
            <p:cNvSpPr/>
            <p:nvPr/>
          </p:nvSpPr>
          <p:spPr>
            <a:xfrm>
              <a:off x="1352550" y="4343400"/>
              <a:ext cx="4348579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2100"/>
                </a:lnSpc>
              </a:pPr>
              <a:r>
                <a:rPr lang="en-US" altLang="ko-KR" sz="16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cordova</a:t>
              </a:r>
              <a:r>
                <a: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-plugin-ionic-</a:t>
              </a:r>
              <a:r>
                <a:rPr lang="en-US" altLang="ko-KR" sz="16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webview</a:t>
              </a:r>
              <a:endParaRPr lang="en-US" sz="15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3" name="Text 14"/>
            <p:cNvSpPr/>
            <p:nvPr/>
          </p:nvSpPr>
          <p:spPr>
            <a:xfrm>
              <a:off x="1352550" y="4648200"/>
              <a:ext cx="4348579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Ionic 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앱의 </a:t>
              </a: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웹 뷰 성능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최적화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9D1D231-FB58-407D-90AE-53D2A0F2060A}"/>
              </a:ext>
            </a:extLst>
          </p:cNvPr>
          <p:cNvGrpSpPr/>
          <p:nvPr/>
        </p:nvGrpSpPr>
        <p:grpSpPr>
          <a:xfrm>
            <a:off x="6172200" y="1485903"/>
            <a:ext cx="6206490" cy="876300"/>
            <a:chOff x="6172200" y="3314700"/>
            <a:chExt cx="6206490" cy="876300"/>
          </a:xfrm>
        </p:grpSpPr>
        <p:pic>
          <p:nvPicPr>
            <p:cNvPr id="26" name="Image 24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172200" y="3314700"/>
              <a:ext cx="5410200" cy="766233"/>
            </a:xfrm>
            <a:prstGeom prst="rect">
              <a:avLst/>
            </a:prstGeom>
          </p:spPr>
        </p:pic>
        <p:pic>
          <p:nvPicPr>
            <p:cNvPr id="27" name="Image 25" descr="preencoded.png"/>
            <p:cNvPicPr>
              <a:picLocks noChangeAspect="1"/>
            </p:cNvPicPr>
            <p:nvPr/>
          </p:nvPicPr>
          <p:blipFill>
            <a:blip r:embed="rId10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86500" y="3429000"/>
              <a:ext cx="476250" cy="476250"/>
            </a:xfrm>
            <a:prstGeom prst="rect">
              <a:avLst/>
            </a:prstGeom>
          </p:spPr>
        </p:pic>
        <p:sp>
          <p:nvSpPr>
            <p:cNvPr id="44" name="Text 15"/>
            <p:cNvSpPr/>
            <p:nvPr/>
          </p:nvSpPr>
          <p:spPr>
            <a:xfrm>
              <a:off x="6915150" y="3429000"/>
              <a:ext cx="546354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6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Nanum Square" pitchFamily="34" charset="-120"/>
                </a:rPr>
                <a:t>cordova-plugin-whitelist</a:t>
              </a:r>
              <a:endParaRPr lang="en-US" sz="15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5" name="Text 16"/>
            <p:cNvSpPr/>
            <p:nvPr/>
          </p:nvSpPr>
          <p:spPr>
            <a:xfrm>
              <a:off x="6915150" y="3733800"/>
              <a:ext cx="455295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latin typeface="Noto Sans KR" panose="020B0200000000000000" pitchFamily="50" charset="-127"/>
                  <a:ea typeface="Noto Sans KR" panose="020B0200000000000000" pitchFamily="50" charset="-127"/>
                  <a:cs typeface="Nanum Square" pitchFamily="34" charset="-120"/>
                </a:rPr>
                <a:t>외부 URL 접속 정책 제어 (네비게이션, AJAX 요청 등 허용 대상 지정)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6" name="Text 17"/>
          <p:cNvSpPr/>
          <p:nvPr/>
        </p:nvSpPr>
        <p:spPr>
          <a:xfrm>
            <a:off x="11201102" y="6324600"/>
            <a:ext cx="4575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8/11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D92F2C5-3FF7-4A8A-B121-1F4B07C5CCC0}"/>
              </a:ext>
            </a:extLst>
          </p:cNvPr>
          <p:cNvGrpSpPr/>
          <p:nvPr/>
        </p:nvGrpSpPr>
        <p:grpSpPr>
          <a:xfrm>
            <a:off x="6172200" y="3325285"/>
            <a:ext cx="6206490" cy="869951"/>
            <a:chOff x="609600" y="2391834"/>
            <a:chExt cx="6206490" cy="869951"/>
          </a:xfrm>
        </p:grpSpPr>
        <p:pic>
          <p:nvPicPr>
            <p:cNvPr id="48" name="Image 24" descr="preencoded.png">
              <a:extLst>
                <a:ext uri="{FF2B5EF4-FFF2-40B4-BE49-F238E27FC236}">
                  <a16:creationId xmlns:a16="http://schemas.microsoft.com/office/drawing/2014/main" id="{5E9983B4-B4CF-4EB7-A089-AD870EA26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09600" y="2391834"/>
              <a:ext cx="5410200" cy="762000"/>
            </a:xfrm>
            <a:prstGeom prst="rect">
              <a:avLst/>
            </a:prstGeom>
          </p:spPr>
        </p:pic>
        <p:pic>
          <p:nvPicPr>
            <p:cNvPr id="49" name="Image 25" descr="preencoded.png">
              <a:extLst>
                <a:ext uri="{FF2B5EF4-FFF2-40B4-BE49-F238E27FC236}">
                  <a16:creationId xmlns:a16="http://schemas.microsoft.com/office/drawing/2014/main" id="{B3189C55-7424-4AEA-A239-72385D18D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23900" y="2499785"/>
              <a:ext cx="476250" cy="476250"/>
            </a:xfrm>
            <a:prstGeom prst="rect">
              <a:avLst/>
            </a:prstGeom>
          </p:spPr>
        </p:pic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C49AD869-6117-49E2-97CD-D7457F68E63C}"/>
                </a:ext>
              </a:extLst>
            </p:cNvPr>
            <p:cNvSpPr/>
            <p:nvPr/>
          </p:nvSpPr>
          <p:spPr>
            <a:xfrm>
              <a:off x="1352550" y="2499785"/>
              <a:ext cx="546354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2100"/>
                </a:lnSpc>
              </a:pPr>
              <a:r>
                <a:rPr lang="en-US" altLang="ko-KR" sz="1600" b="1" dirty="0" err="1">
                  <a:latin typeface="Noto Sans KR" panose="020B0200000000000000" pitchFamily="50" charset="-127"/>
                  <a:ea typeface="Noto Sans KR" panose="020B0200000000000000" pitchFamily="50" charset="-127"/>
                  <a:cs typeface="Nanum Square" pitchFamily="34" charset="-120"/>
                </a:rPr>
                <a:t>cordova</a:t>
              </a:r>
              <a:r>
                <a: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  <a:cs typeface="Nanum Square" pitchFamily="34" charset="-120"/>
                </a:rPr>
                <a:t>-plugin-</a:t>
              </a:r>
              <a:r>
                <a:rPr lang="en-US" altLang="ko-KR" sz="1600" b="1" dirty="0" err="1">
                  <a:latin typeface="Noto Sans KR" panose="020B0200000000000000" pitchFamily="50" charset="-127"/>
                  <a:ea typeface="Noto Sans KR" panose="020B0200000000000000" pitchFamily="50" charset="-127"/>
                  <a:cs typeface="Nanum Square" pitchFamily="34" charset="-120"/>
                </a:rPr>
                <a:t>statusbar</a:t>
              </a:r>
              <a:endParaRPr lang="en-US" altLang="ko-KR" sz="15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FCB7F6B6-D1BB-4B33-A8E4-5BD01C52B825}"/>
                </a:ext>
              </a:extLst>
            </p:cNvPr>
            <p:cNvSpPr/>
            <p:nvPr/>
          </p:nvSpPr>
          <p:spPr>
            <a:xfrm>
              <a:off x="1352550" y="2804585"/>
              <a:ext cx="4552950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>
                <a:lnSpc>
                  <a:spcPts val="1800"/>
                </a:lnSpc>
              </a:pPr>
              <a:r>
                <a:rPr lang="en-US" altLang="ko-KR" sz="1200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statusBar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의 </a:t>
              </a: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색상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표시</a:t>
              </a:r>
              <a:r>
                <a:rPr lang="en-US" altLang="ko-KR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숨김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2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오버레이 여부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등 </a:t>
              </a:r>
              <a:r>
                <a:rPr lang="en-US" altLang="ko-KR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UI</a:t>
              </a:r>
              <a:r>
                <a:rPr lang="ko-KR" altLang="en-US" sz="1200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를 제어</a:t>
              </a:r>
              <a:endParaRPr lang="en-US" sz="12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52" name="Image 19" descr="preencoded.png">
            <a:extLst>
              <a:ext uri="{FF2B5EF4-FFF2-40B4-BE49-F238E27FC236}">
                <a16:creationId xmlns:a16="http://schemas.microsoft.com/office/drawing/2014/main" id="{2F077352-860D-4F62-A8E6-6856C3914A57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92041" y="6324600"/>
            <a:ext cx="241300" cy="241300"/>
          </a:xfrm>
          <a:prstGeom prst="rect">
            <a:avLst/>
          </a:prstGeom>
        </p:spPr>
      </p:pic>
      <p:sp>
        <p:nvSpPr>
          <p:cNvPr id="55" name="Text 14">
            <a:extLst>
              <a:ext uri="{FF2B5EF4-FFF2-40B4-BE49-F238E27FC236}">
                <a16:creationId xmlns:a16="http://schemas.microsoft.com/office/drawing/2014/main" id="{CB0CF0A7-8066-4EAF-A717-4207DFE53847}"/>
              </a:ext>
            </a:extLst>
          </p:cNvPr>
          <p:cNvSpPr/>
          <p:nvPr/>
        </p:nvSpPr>
        <p:spPr>
          <a:xfrm>
            <a:off x="723900" y="6330950"/>
            <a:ext cx="8481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성장 앨범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6" name="Image 19" descr="preencoded.png">
            <a:extLst>
              <a:ext uri="{FF2B5EF4-FFF2-40B4-BE49-F238E27FC236}">
                <a16:creationId xmlns:a16="http://schemas.microsoft.com/office/drawing/2014/main" id="{CF5B8C09-0FE7-4AC8-B596-71A4AC209925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62657" y="6324600"/>
            <a:ext cx="241300" cy="241300"/>
          </a:xfrm>
          <a:prstGeom prst="rect">
            <a:avLst/>
          </a:prstGeom>
        </p:spPr>
      </p:pic>
      <p:sp>
        <p:nvSpPr>
          <p:cNvPr id="57" name="Text 14">
            <a:extLst>
              <a:ext uri="{FF2B5EF4-FFF2-40B4-BE49-F238E27FC236}">
                <a16:creationId xmlns:a16="http://schemas.microsoft.com/office/drawing/2014/main" id="{827DEB47-A5ED-493A-8069-E8680B46E818}"/>
              </a:ext>
            </a:extLst>
          </p:cNvPr>
          <p:cNvSpPr/>
          <p:nvPr/>
        </p:nvSpPr>
        <p:spPr>
          <a:xfrm>
            <a:off x="2194515" y="6330950"/>
            <a:ext cx="175941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UI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및 환경 관리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앱 전반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19200"/>
            <a:ext cx="762000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3161" y="1562100"/>
            <a:ext cx="4389090" cy="42672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60960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파일 디렉토리 구조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이 디렉토리 구조는 Apache Cordova 기반 하이브리드 앱의 일반적인 구조입니다.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D23FC5-9D73-444C-FF21-64A79B644BC7}"/>
              </a:ext>
            </a:extLst>
          </p:cNvPr>
          <p:cNvSpPr txBox="1"/>
          <p:nvPr/>
        </p:nvSpPr>
        <p:spPr>
          <a:xfrm>
            <a:off x="609600" y="1377600"/>
            <a:ext cx="5774338" cy="4578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├── </a:t>
            </a:r>
            <a:r>
              <a:rPr lang="en-US" altLang="ko-KR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node_modules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# Node.js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패키지 종속성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(Dependencies)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├── platforms/ # </a:t>
            </a:r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빌드된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네이티브 앱 파일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(Android, iOS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├── plugins/ #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설치된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Cordova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플러그인 파일 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├──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www/ #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웹 앱 소스 코드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(HTML, CSS, JS)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├── .</a:t>
            </a:r>
            <a:r>
              <a:rPr lang="en-US" altLang="ko-KR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gitignore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# Git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버전 관리에서 제외할 파일 목록 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├──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config.xml # Cordova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앱의 설정 파일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권한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이름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플랫폼 설정 등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├── </a:t>
            </a:r>
            <a:r>
              <a:rPr lang="en-US" altLang="ko-KR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package.json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#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메타데이터 및 종속성 목록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n-US" altLang="ko-KR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npm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설정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└── package-</a:t>
            </a:r>
            <a:r>
              <a:rPr lang="en-US" altLang="ko-KR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lock.json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#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설치된 정확한 종속성 버전 정보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www/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├── </a:t>
            </a:r>
            <a:r>
              <a:rPr lang="en-US" altLang="ko-KR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css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#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스타일시트 파일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(CSS)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├── </a:t>
            </a:r>
            <a:r>
              <a:rPr lang="en-US" altLang="ko-KR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img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#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이미지 및 미디어 파일 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├── </a:t>
            </a:r>
            <a:r>
              <a:rPr lang="en-US" altLang="ko-KR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js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#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자바스크립트 파일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로직 코드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└── index.html #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앱의 진입 점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(Entry Point)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되는 메인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HTML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파일</a:t>
            </a:r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AF7C3B62-181A-4177-AA27-9291BA75ED1D}"/>
              </a:ext>
            </a:extLst>
          </p:cNvPr>
          <p:cNvSpPr/>
          <p:nvPr/>
        </p:nvSpPr>
        <p:spPr>
          <a:xfrm>
            <a:off x="11201102" y="6324600"/>
            <a:ext cx="4575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9/11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19200"/>
            <a:ext cx="762000" cy="381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609600" y="60960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앱 시연</a:t>
            </a:r>
            <a:endParaRPr 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11200954" y="6324600"/>
            <a:ext cx="4577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10/11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66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05200" y="1687362"/>
            <a:ext cx="5181600" cy="393450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33800" y="1915962"/>
            <a:ext cx="457200" cy="4857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bg2">
                <a:lumMod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8100" y="2006449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810000" y="2706537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810000" y="3316137"/>
            <a:ext cx="152400" cy="1524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60960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Nanum Square" pitchFamily="34" charset="0"/>
              </a:rPr>
              <a:t>결론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4343400" y="2000237"/>
            <a:ext cx="269765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프로젝트</a:t>
            </a:r>
            <a:r>
              <a:rPr lang="en-US" sz="1800" b="1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 회고</a:t>
            </a:r>
            <a:endParaRPr lang="en-US" sz="1800" dirty="0"/>
          </a:p>
        </p:txBody>
      </p:sp>
      <p:sp>
        <p:nvSpPr>
          <p:cNvPr id="25" name="Text 4"/>
          <p:cNvSpPr/>
          <p:nvPr/>
        </p:nvSpPr>
        <p:spPr>
          <a:xfrm>
            <a:off x="4076700" y="2649387"/>
            <a:ext cx="4305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팀원들은 하이브리드 앱 개발 과정과 협업의 중요성을 </a:t>
            </a:r>
            <a:r>
              <a:rPr lang="en-US" sz="1200" dirty="0" err="1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깊이</a:t>
            </a:r>
            <a:r>
              <a:rPr 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이해</a:t>
            </a:r>
            <a:r>
              <a:rPr lang="ko-KR" alt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했다</a:t>
            </a:r>
            <a:r>
              <a:rPr lang="en-US" altLang="ko-KR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.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4076700" y="3258987"/>
            <a:ext cx="4305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디스코드를 활용한 </a:t>
            </a:r>
            <a:r>
              <a:rPr lang="en-US" sz="1200" dirty="0" err="1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실시간</a:t>
            </a:r>
            <a:r>
              <a:rPr 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협업</a:t>
            </a:r>
            <a:r>
              <a:rPr lang="ko-KR" alt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이</a:t>
            </a:r>
            <a:r>
              <a:rPr 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 원활한 의사소통과 효율적인 </a:t>
            </a:r>
            <a:r>
              <a:rPr lang="en-US" sz="1200" dirty="0" err="1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업무</a:t>
            </a:r>
            <a:r>
              <a:rPr 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분담</a:t>
            </a:r>
            <a:r>
              <a:rPr lang="ko-KR" alt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에 도움을 줬다</a:t>
            </a:r>
            <a:r>
              <a:rPr lang="en-US" altLang="ko-KR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531BB535-A8E5-4C5D-91C6-145F7AAE7481}"/>
              </a:ext>
            </a:extLst>
          </p:cNvPr>
          <p:cNvSpPr/>
          <p:nvPr/>
        </p:nvSpPr>
        <p:spPr>
          <a:xfrm>
            <a:off x="11201102" y="6324600"/>
            <a:ext cx="4575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Square" pitchFamily="34" charset="-120"/>
              </a:rPr>
              <a:t>11/11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93CF94B5-6C93-48E9-8738-9CC8EF88381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1219200"/>
            <a:ext cx="762000" cy="38100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11495113-1F6B-4C65-930B-067002E45DC6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FFBDBD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0" y="5039787"/>
            <a:ext cx="152400" cy="152400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318110AE-7987-4B06-85DE-C18504E8EE11}"/>
              </a:ext>
            </a:extLst>
          </p:cNvPr>
          <p:cNvSpPr/>
          <p:nvPr/>
        </p:nvSpPr>
        <p:spPr>
          <a:xfrm>
            <a:off x="4076700" y="4982637"/>
            <a:ext cx="4305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작은 기능 하나도 제대로 안정적으로 돌아가게 하려면 시간이 꽤 들었다</a:t>
            </a:r>
            <a:r>
              <a:rPr lang="en-US" altLang="ko-KR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.</a:t>
            </a:r>
            <a:r>
              <a:rPr lang="ko-KR" alt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 </a:t>
            </a:r>
            <a:endParaRPr lang="en-US" sz="12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F52C1CB7-1B2A-49CB-A78D-DB333B111716}"/>
              </a:ext>
            </a:extLst>
          </p:cNvPr>
          <p:cNvSpPr/>
          <p:nvPr/>
        </p:nvSpPr>
        <p:spPr>
          <a:xfrm>
            <a:off x="4076700" y="4385172"/>
            <a:ext cx="4305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사진 처리</a:t>
            </a:r>
            <a:r>
              <a:rPr lang="en-US" altLang="ko-KR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, </a:t>
            </a:r>
            <a:r>
              <a:rPr lang="ko-KR" alt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동기화같은 부분이 하나하나 신경 쓰여 작업이 늘어났다</a:t>
            </a:r>
            <a:r>
              <a:rPr lang="en-US" altLang="ko-KR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  <a:cs typeface="Nanum Square" pitchFamily="34" charset="-120"/>
              </a:rPr>
              <a:t>.</a:t>
            </a:r>
            <a:endParaRPr lang="en-US" sz="1200" dirty="0"/>
          </a:p>
        </p:txBody>
      </p:sp>
      <p:pic>
        <p:nvPicPr>
          <p:cNvPr id="24" name="Image 9" descr="preencoded.png">
            <a:extLst>
              <a:ext uri="{FF2B5EF4-FFF2-40B4-BE49-F238E27FC236}">
                <a16:creationId xmlns:a16="http://schemas.microsoft.com/office/drawing/2014/main" id="{2FC73A95-B6FC-4495-8C01-755E0CE18A85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FFBDBD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0" y="4524283"/>
            <a:ext cx="152400" cy="152400"/>
          </a:xfrm>
          <a:prstGeom prst="rect">
            <a:avLst/>
          </a:prstGeom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E50D3ED2-CFD7-4901-AF2A-D526D990D1AD}"/>
              </a:ext>
            </a:extLst>
          </p:cNvPr>
          <p:cNvSpPr/>
          <p:nvPr/>
        </p:nvSpPr>
        <p:spPr>
          <a:xfrm>
            <a:off x="4076700" y="3925737"/>
            <a:ext cx="4305300" cy="4303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</a:rPr>
              <a:t>AI</a:t>
            </a:r>
            <a:r>
              <a:rPr lang="ko-KR" alt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</a:rPr>
              <a:t>가 오류가 있는 코드를 보내 고치는데 시간을 다소 소요했다</a:t>
            </a:r>
            <a:r>
              <a:rPr lang="en-US" altLang="ko-KR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</a:rPr>
              <a:t>.</a:t>
            </a:r>
            <a:r>
              <a:rPr lang="ko-KR" altLang="en-US" sz="1200" dirty="0">
                <a:solidFill>
                  <a:srgbClr val="374151"/>
                </a:solidFill>
                <a:latin typeface="Nanum Square" pitchFamily="34" charset="0"/>
                <a:ea typeface="Nanum Square" pitchFamily="34" charset="-122"/>
              </a:rPr>
              <a:t> </a:t>
            </a:r>
            <a:endParaRPr lang="en-US" sz="1200" dirty="0"/>
          </a:p>
        </p:txBody>
      </p:sp>
      <p:pic>
        <p:nvPicPr>
          <p:cNvPr id="29" name="Image 9" descr="preencoded.png">
            <a:extLst>
              <a:ext uri="{FF2B5EF4-FFF2-40B4-BE49-F238E27FC236}">
                <a16:creationId xmlns:a16="http://schemas.microsoft.com/office/drawing/2014/main" id="{12B1BAC4-6EA7-4839-99E6-F01F9FDC4630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FFBDBD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0" y="3966364"/>
            <a:ext cx="152400" cy="15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831</Words>
  <Application>Microsoft Office PowerPoint</Application>
  <PresentationFormat>와이드스크린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Nanum Square</vt:lpstr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DIT</cp:lastModifiedBy>
  <cp:revision>29</cp:revision>
  <dcterms:created xsi:type="dcterms:W3CDTF">2025-11-17T09:01:34Z</dcterms:created>
  <dcterms:modified xsi:type="dcterms:W3CDTF">2025-11-19T05:02:31Z</dcterms:modified>
</cp:coreProperties>
</file>