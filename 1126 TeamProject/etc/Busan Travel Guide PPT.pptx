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12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3A07F-AEDB-A7CF-D37E-8AFA88FD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F21CF-236B-BD41-71D9-485B385FA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C762F-7A1A-C1B7-F19E-7BD250111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38637-6A29-FE5A-B681-18B877348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5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9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9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9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9.png"/><Relationship Id="rId9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69.png"/><Relationship Id="rId1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68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67.png"/><Relationship Id="rId5" Type="http://schemas.openxmlformats.org/officeDocument/2006/relationships/image" Target="../media/image63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4.png"/><Relationship Id="rId4" Type="http://schemas.openxmlformats.org/officeDocument/2006/relationships/image" Target="../media/image9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9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066800"/>
            <a:ext cx="390525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175" y="54102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4625" y="1066800"/>
            <a:ext cx="25717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3181350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5913" y="4629150"/>
            <a:ext cx="1400175" cy="457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176712" y="1771650"/>
            <a:ext cx="383857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180" dirty="0" err="1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4500" b="1" kern="0" spc="180" dirty="0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endParaRPr lang="en-US" sz="4500" dirty="0"/>
          </a:p>
        </p:txBody>
      </p:sp>
      <p:sp>
        <p:nvSpPr>
          <p:cNvPr id="10" name="Text 1"/>
          <p:cNvSpPr/>
          <p:nvPr/>
        </p:nvSpPr>
        <p:spPr>
          <a:xfrm>
            <a:off x="3792855" y="2495550"/>
            <a:ext cx="46062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여행 가이드 AI 서비스</a:t>
            </a:r>
            <a:endParaRPr lang="en-US" sz="2700" dirty="0"/>
          </a:p>
        </p:txBody>
      </p:sp>
      <p:sp>
        <p:nvSpPr>
          <p:cNvPr id="11" name="Text 2"/>
          <p:cNvSpPr/>
          <p:nvPr/>
        </p:nvSpPr>
        <p:spPr>
          <a:xfrm>
            <a:off x="4176712" y="3524250"/>
            <a:ext cx="38385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앱 개발 프로젝트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4176712" y="3905250"/>
            <a:ext cx="38385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2025년도 2학기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5530215" y="4743450"/>
            <a:ext cx="1131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</a:t>
            </a:r>
            <a:r>
              <a:rPr lang="en-US" sz="1200" b="1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1219200" y="5638800"/>
            <a:ext cx="975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2025-12-03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F7A3DE6E-77FE-05B1-3D8A-B38EBE608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44" y="1865038"/>
            <a:ext cx="2643038" cy="1291679"/>
          </a:xfrm>
          <a:prstGeom prst="rect">
            <a:avLst/>
          </a:prstGeom>
        </p:spPr>
      </p:pic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BECC87D0-88D3-F01A-6D5E-B781C2702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835" y="1865037"/>
            <a:ext cx="2643038" cy="129167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90600"/>
            <a:ext cx="1097280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1811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1866900"/>
            <a:ext cx="2457182" cy="129167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100" y="20574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8" y="21336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77311" y="20574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5898" y="21336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18562" y="20574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7150" y="213360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349079"/>
            <a:ext cx="10972800" cy="1295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539579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996779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500" y="3996779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62900" y="3996779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및 역할 분담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00150" y="1181100"/>
            <a:ext cx="3006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팀원별 역할 분담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371600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김성보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371600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리더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914400" y="2628900"/>
            <a:ext cx="1727126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</a:t>
            </a:r>
            <a:r>
              <a:rPr lang="ko-KR" altLang="en-US" sz="108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롬프트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</a:t>
            </a:r>
            <a:endParaRPr lang="en-US" sz="1080" dirty="0"/>
          </a:p>
        </p:txBody>
      </p:sp>
      <p:sp>
        <p:nvSpPr>
          <p:cNvPr id="27" name="Text 7"/>
          <p:cNvSpPr/>
          <p:nvPr/>
        </p:nvSpPr>
        <p:spPr>
          <a:xfrm>
            <a:off x="4048811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허윤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4048811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팀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3591611" y="2628900"/>
            <a:ext cx="2093695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Flow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생성 </a:t>
            </a:r>
            <a:r>
              <a:rPr lang="en-US" altLang="ko-KR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/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코드 추가수정</a:t>
            </a:r>
            <a:r>
              <a:rPr lang="en-US" altLang="ko-KR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기능 및 앱 점검</a:t>
            </a:r>
            <a:endParaRPr lang="en-US" sz="1080" dirty="0"/>
          </a:p>
        </p:txBody>
      </p:sp>
      <p:sp>
        <p:nvSpPr>
          <p:cNvPr id="32" name="Text 12"/>
          <p:cNvSpPr/>
          <p:nvPr/>
        </p:nvSpPr>
        <p:spPr>
          <a:xfrm>
            <a:off x="6890062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공민승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6890062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팀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6432862" y="2628900"/>
            <a:ext cx="1074420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제작</a:t>
            </a:r>
            <a:endParaRPr lang="en-US" sz="1080" dirty="0"/>
          </a:p>
        </p:txBody>
      </p:sp>
      <p:sp>
        <p:nvSpPr>
          <p:cNvPr id="37" name="Text 17"/>
          <p:cNvSpPr/>
          <p:nvPr/>
        </p:nvSpPr>
        <p:spPr>
          <a:xfrm>
            <a:off x="1200150" y="3539579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방식</a:t>
            </a:r>
            <a:endParaRPr lang="en-US" sz="1800" dirty="0"/>
          </a:p>
        </p:txBody>
      </p:sp>
      <p:sp>
        <p:nvSpPr>
          <p:cNvPr id="38" name="Text 18"/>
          <p:cNvSpPr/>
          <p:nvPr/>
        </p:nvSpPr>
        <p:spPr>
          <a:xfrm>
            <a:off x="1104900" y="3958679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미팅</a:t>
            </a:r>
            <a:endParaRPr lang="en-US" sz="1350" dirty="0"/>
          </a:p>
        </p:txBody>
      </p:sp>
      <p:sp>
        <p:nvSpPr>
          <p:cNvPr id="40" name="Text 20"/>
          <p:cNvSpPr/>
          <p:nvPr/>
        </p:nvSpPr>
        <p:spPr>
          <a:xfrm>
            <a:off x="4629150" y="3958679"/>
            <a:ext cx="982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350" dirty="0"/>
          </a:p>
        </p:txBody>
      </p:sp>
      <p:sp>
        <p:nvSpPr>
          <p:cNvPr id="42" name="Text 22"/>
          <p:cNvSpPr/>
          <p:nvPr/>
        </p:nvSpPr>
        <p:spPr>
          <a:xfrm>
            <a:off x="8229600" y="3958679"/>
            <a:ext cx="110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 </a:t>
            </a:r>
            <a:r>
              <a:rPr lang="ko-KR" altLang="en-US" sz="135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툴</a:t>
            </a:r>
            <a:endParaRPr lang="en-US" sz="1350" dirty="0"/>
          </a:p>
        </p:txBody>
      </p:sp>
      <p:sp>
        <p:nvSpPr>
          <p:cNvPr id="44" name="Text 24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45" name="Text 25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12</a:t>
            </a:r>
            <a:endParaRPr lang="en-US" sz="1200" dirty="0"/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6146DEF9-6943-2DC7-FD75-E036CE274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653" y="1865039"/>
            <a:ext cx="2643038" cy="1291679"/>
          </a:xfrm>
          <a:prstGeom prst="rect">
            <a:avLst/>
          </a:prstGeom>
        </p:spPr>
      </p:pic>
      <p:pic>
        <p:nvPicPr>
          <p:cNvPr id="59" name="Image 11" descr="preencoded.png">
            <a:extLst>
              <a:ext uri="{FF2B5EF4-FFF2-40B4-BE49-F238E27FC236}">
                <a16:creationId xmlns:a16="http://schemas.microsoft.com/office/drawing/2014/main" id="{BB22F33C-BBCB-92BA-B1AA-B50FAB42E42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183446" y="2057400"/>
            <a:ext cx="457200" cy="457200"/>
          </a:xfrm>
          <a:prstGeom prst="rect">
            <a:avLst/>
          </a:prstGeom>
        </p:spPr>
      </p:pic>
      <p:pic>
        <p:nvPicPr>
          <p:cNvPr id="60" name="Image 12" descr="preencoded.png">
            <a:extLst>
              <a:ext uri="{FF2B5EF4-FFF2-40B4-BE49-F238E27FC236}">
                <a16:creationId xmlns:a16="http://schemas.microsoft.com/office/drawing/2014/main" id="{8B57F62B-965C-A8C4-8168-E64AA17F4C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2034" y="2133600"/>
            <a:ext cx="200025" cy="304800"/>
          </a:xfrm>
          <a:prstGeom prst="rect">
            <a:avLst/>
          </a:prstGeom>
        </p:spPr>
      </p:pic>
      <p:sp>
        <p:nvSpPr>
          <p:cNvPr id="61" name="Text 12">
            <a:extLst>
              <a:ext uri="{FF2B5EF4-FFF2-40B4-BE49-F238E27FC236}">
                <a16:creationId xmlns:a16="http://schemas.microsoft.com/office/drawing/2014/main" id="{72B85CA5-6374-F318-64F7-27473471495D}"/>
              </a:ext>
            </a:extLst>
          </p:cNvPr>
          <p:cNvSpPr/>
          <p:nvPr/>
        </p:nvSpPr>
        <p:spPr>
          <a:xfrm>
            <a:off x="9754946" y="205740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</a:rPr>
              <a:t>이현규</a:t>
            </a:r>
            <a:endParaRPr lang="en-US" sz="150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226E13B7-D976-ACEE-7883-1EFD0123B177}"/>
              </a:ext>
            </a:extLst>
          </p:cNvPr>
          <p:cNvSpPr/>
          <p:nvPr/>
        </p:nvSpPr>
        <p:spPr>
          <a:xfrm>
            <a:off x="9754946" y="2324100"/>
            <a:ext cx="617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팀</a:t>
            </a:r>
            <a:endParaRPr lang="en-US" sz="1050" dirty="0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32199168-1F65-3085-2D86-E16A9F7EC477}"/>
              </a:ext>
            </a:extLst>
          </p:cNvPr>
          <p:cNvSpPr/>
          <p:nvPr/>
        </p:nvSpPr>
        <p:spPr>
          <a:xfrm>
            <a:off x="9297746" y="2628900"/>
            <a:ext cx="1381756" cy="2820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</a:t>
            </a:r>
            <a:r>
              <a:rPr lang="ko-KR" altLang="en-US" sz="10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및 발표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76350"/>
            <a:ext cx="109728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257550"/>
            <a:ext cx="53721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5242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743450"/>
            <a:ext cx="53721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01015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257550"/>
            <a:ext cx="5372100" cy="1257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524250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743450"/>
            <a:ext cx="5372100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5010150"/>
            <a:ext cx="323850" cy="3429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목표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14400" y="1581150"/>
            <a:ext cx="10363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8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8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프로젝트는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914400" y="1962150"/>
            <a:ext cx="124358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10,000명 이상의 사용자를 대상으로 하는 생성형 AI 기반의</a:t>
            </a:r>
            <a:endParaRPr lang="en-US" sz="2250" dirty="0"/>
          </a:p>
        </p:txBody>
      </p:sp>
      <p:sp>
        <p:nvSpPr>
          <p:cNvPr id="16" name="Text 3"/>
          <p:cNvSpPr/>
          <p:nvPr/>
        </p:nvSpPr>
        <p:spPr>
          <a:xfrm>
            <a:off x="914400" y="230505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여행 가이드 앱 개발을 목표로 합니다.</a:t>
            </a:r>
            <a:endParaRPr lang="en-US" sz="2250" dirty="0"/>
          </a:p>
        </p:txBody>
      </p:sp>
      <p:sp>
        <p:nvSpPr>
          <p:cNvPr id="17" name="Text 4"/>
          <p:cNvSpPr/>
          <p:nvPr/>
        </p:nvSpPr>
        <p:spPr>
          <a:xfrm>
            <a:off x="1352550" y="3486150"/>
            <a:ext cx="4400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여행 정보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1352550" y="3829050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질문(위치, 취향, 동반자 등)을 분석하여 최적의 장소를 추천합니다.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1276350" y="4972050"/>
            <a:ext cx="4476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1276350" y="5314950"/>
            <a:ext cx="4476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공공데이터포털의 최신 명소, 맛집, 축제 정보를 실시간으로 반영합니다.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953250" y="3486150"/>
            <a:ext cx="4400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953250" y="3829050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카카오톡과 유사한 직관적인 채팅 UI를 통해 사용자가 AI와 자연스럽게 소통할 수 있도록 합니다.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915150" y="4972050"/>
            <a:ext cx="4438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6953250" y="53149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만족도 극대화를 위해, 편리하고 풍부한 여행 경험을 선사합니다.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62100"/>
            <a:ext cx="3555950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950" y="1562100"/>
            <a:ext cx="3555950" cy="148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8450" y="17526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6301" y="1562100"/>
            <a:ext cx="3556099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801" y="175260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33800"/>
            <a:ext cx="10972800" cy="1600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000500"/>
            <a:ext cx="25717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5875" y="4914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9875" y="49149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9625" y="4914900"/>
            <a:ext cx="152400" cy="152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필요성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609600" y="11049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여행 정보 서비스의 한계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914400" y="175260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정적인 정보 제공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800100" y="2133600"/>
            <a:ext cx="3174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서비스는 정적인 정보 제공에 그치거나, 사용자 개개인의 취향과 상황을 반영한 맞춤형 추천에는 한계가 있었습니다.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4908500" y="1771650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 부족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4508450" y="2171700"/>
            <a:ext cx="317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질문에 기반한 동적이고 맥락적인 여행 가이드 제공이 제한적이었습니다.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8531126" y="1771650"/>
            <a:ext cx="1988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활용의 어려움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8216801" y="2171700"/>
            <a:ext cx="3175099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공공데이터를 효과적으로 활용하여 사용자에게 의미 있는 정보를 제공하는 것은 기술적인 도전 과제였습니다.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609600" y="32766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안드로야의 해결 방안</a:t>
            </a:r>
            <a:endParaRPr lang="en-US" sz="1800" dirty="0"/>
          </a:p>
        </p:txBody>
      </p:sp>
      <p:sp>
        <p:nvSpPr>
          <p:cNvPr id="23" name="Text 9"/>
          <p:cNvSpPr/>
          <p:nvPr/>
        </p:nvSpPr>
        <p:spPr>
          <a:xfrm>
            <a:off x="1285875" y="3962400"/>
            <a:ext cx="10067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활용한 동적 여행 가이드</a:t>
            </a:r>
            <a:endParaRPr lang="en-US" sz="1500" dirty="0"/>
          </a:p>
        </p:txBody>
      </p:sp>
      <p:sp>
        <p:nvSpPr>
          <p:cNvPr id="24" name="Text 10"/>
          <p:cNvSpPr/>
          <p:nvPr/>
        </p:nvSpPr>
        <p:spPr>
          <a:xfrm>
            <a:off x="1285875" y="4305300"/>
            <a:ext cx="100679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안드로야는 생성형 AI를 활용하여 기존 서비스의 한계를 극복하고, 사용자의 질문에 기반한 동적이고 맥락적인 여행 가이드를 제공함으로써 사용자 만족도를 극대화합니다.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1514475" y="487680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여행 추천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3038475" y="48768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4848225" y="4876800"/>
            <a:ext cx="1417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3454301" cy="3695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50" y="20955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488" y="2286000"/>
            <a:ext cx="39052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114800"/>
            <a:ext cx="2844701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8701" y="1790700"/>
            <a:ext cx="3454450" cy="3695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4851" y="2095500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451" y="22860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501" y="4114800"/>
            <a:ext cx="2844850" cy="838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790700"/>
            <a:ext cx="3454301" cy="3695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4101" y="2095500"/>
            <a:ext cx="762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0788" y="2286000"/>
            <a:ext cx="428625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750" y="4343400"/>
            <a:ext cx="2844701" cy="838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소개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250900" y="3048000"/>
            <a:ext cx="2171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여행 추천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914400" y="3505200"/>
            <a:ext cx="2844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질문(위치, 취향, 동반자 등)을 분석하여 최적의 장소를 추천합니다.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143000" y="4114800"/>
            <a:ext cx="20231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취향에 기반한 맞춤형 추천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143000" y="4419600"/>
            <a:ext cx="1897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기반 근처 명소 검색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1143000" y="4724400"/>
            <a:ext cx="2240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일정에 따른 추천 최적화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4758541" y="3048000"/>
            <a:ext cx="26746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4673501" y="3505200"/>
            <a:ext cx="284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공공데이터포털의 최신 명소, 맛집, 축제 정보를 실시간으로 반영합니다.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4902101" y="4114800"/>
            <a:ext cx="1725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명소 및 맛집 정보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4902101" y="4419600"/>
            <a:ext cx="20688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및 이벤트 실시간 반영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4902101" y="47244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자동화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8809256" y="3048000"/>
            <a:ext cx="20916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800" dirty="0"/>
          </a:p>
        </p:txBody>
      </p:sp>
      <p:sp>
        <p:nvSpPr>
          <p:cNvPr id="28" name="Text 12"/>
          <p:cNvSpPr/>
          <p:nvPr/>
        </p:nvSpPr>
        <p:spPr>
          <a:xfrm>
            <a:off x="8432750" y="3505200"/>
            <a:ext cx="2844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카카오톡과 유사한 직관적인 채팅 UI를 통해 사용자가 AI와 자연스럽게 소통할 수 있도록 합니다.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8661350" y="4343400"/>
            <a:ext cx="131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채팅 UI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8661350" y="4648200"/>
            <a:ext cx="2708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친화적인 자연어 인터페이스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8661350" y="4953000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정보에 대한 반복 질문 가능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35052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2573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19300"/>
            <a:ext cx="3505200" cy="3505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2860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2004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28700"/>
            <a:ext cx="3505200" cy="838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2573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2019300"/>
            <a:ext cx="3505200" cy="3505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2860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32004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028700"/>
            <a:ext cx="35052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1257300"/>
            <a:ext cx="3429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2019300"/>
            <a:ext cx="3505200" cy="3505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22860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32004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4114800"/>
            <a:ext cx="17145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및 개발 환경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419225" y="1295400"/>
            <a:ext cx="8458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181100" y="2247900"/>
            <a:ext cx="3246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81100" y="25527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모델을 활용하여 AI의 핵심 기능을 구현했습니다.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181100" y="3162300"/>
            <a:ext cx="270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DeepSeek AI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1181100" y="34671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형태로 AI 기능을 제공하는 툴로, 초기 아이디어 구상 시 고려되었습니다.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029200" y="1295400"/>
            <a:ext cx="13373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4943475" y="2247900"/>
            <a:ext cx="2676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4943475" y="2552700"/>
            <a:ext cx="2676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명소, 맛집, 축제 등 실시간 데이터를 연동하여 최신 정보를 제공합니다.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4886325" y="3162300"/>
            <a:ext cx="2733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data.go.kr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886325" y="3467100"/>
            <a:ext cx="27336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추가적인 공공데이터를 활용하여 풍부한 여행 정보를 구축합니다.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801100" y="12954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도구</a:t>
            </a:r>
            <a:endParaRPr lang="en-US" sz="1800" dirty="0"/>
          </a:p>
        </p:txBody>
      </p:sp>
      <p:sp>
        <p:nvSpPr>
          <p:cNvPr id="32" name="Text 12"/>
          <p:cNvSpPr/>
          <p:nvPr/>
        </p:nvSpPr>
        <p:spPr>
          <a:xfrm>
            <a:off x="8648700" y="2247900"/>
            <a:ext cx="270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툴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8648700" y="25527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FLOW: 팀원 간의 원활한 소통과 업무 관리를 위한 협업 툴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8648700" y="3162300"/>
            <a:ext cx="2705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디자인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8648700" y="3467100"/>
            <a:ext cx="270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Figma: 앱 화면 구상 및 UI/UX 디자인을 위한 기획 툴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8591550" y="4076700"/>
            <a:ext cx="3314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Cordova Plugins</a:t>
            </a:r>
            <a:endParaRPr lang="en-US" sz="1500" dirty="0"/>
          </a:p>
        </p:txBody>
      </p:sp>
      <p:sp>
        <p:nvSpPr>
          <p:cNvPr id="37" name="Text 17"/>
          <p:cNvSpPr/>
          <p:nvPr/>
        </p:nvSpPr>
        <p:spPr>
          <a:xfrm>
            <a:off x="8591550" y="4381500"/>
            <a:ext cx="2762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cordova-plugin-inappbrowser: 외부 링크 열기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8591550" y="4838700"/>
            <a:ext cx="2762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cordova-plugin-network-information: 네트워크 상태 확인</a:t>
            </a: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40" name="Text 20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90725"/>
            <a:ext cx="5181600" cy="32956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409700"/>
            <a:ext cx="54864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6764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95600"/>
            <a:ext cx="54864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31623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381500"/>
            <a:ext cx="5486400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4648200"/>
            <a:ext cx="285750" cy="3429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디자인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6762750" y="16383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깔끔하고 부산다운 </a:t>
            </a:r>
            <a:r>
              <a:rPr 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6762750" y="19812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밝은</a:t>
            </a: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색상과, 부산을 연상시키는 바다와 하늘 색상을 조합하여 현대적이고 깔끔한 디자인을 구현했습니다.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6838950" y="3124200"/>
            <a:ext cx="4514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카카오톡형 채팅 인터페이스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6838950" y="3467100"/>
            <a:ext cx="4514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채팅 UI를 통해 사용자가 AI와 자연스럽게 소통할 수 있도록 하여, 편리하고 직관적인 여행 경험을 제공합니다.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6762750" y="46101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</a:t>
            </a:r>
            <a:endParaRPr lang="en-US" sz="1500" dirty="0"/>
          </a:p>
        </p:txBody>
      </p:sp>
      <p:sp>
        <p:nvSpPr>
          <p:cNvPr id="17" name="Text 6"/>
          <p:cNvSpPr/>
          <p:nvPr/>
        </p:nvSpPr>
        <p:spPr>
          <a:xfrm>
            <a:off x="6762750" y="49530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최대한의 가독성과 사용자 친화성을 위해, 여백을 충분히 두고 깔끔한 레이아웃을 구성했습니다. 사용자 흐름을 방해하지 않도록 모든 요소는 신중하게 배치되었습니다.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1097280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3335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247900"/>
            <a:ext cx="243840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825" y="2400300"/>
            <a:ext cx="3619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4301" y="2247900"/>
            <a:ext cx="24384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2526" y="2400300"/>
            <a:ext cx="3619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9002" y="2247900"/>
            <a:ext cx="2438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4377" y="2400300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3702" y="2247900"/>
            <a:ext cx="24384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20027" y="24003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505200"/>
            <a:ext cx="537210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37338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505200"/>
            <a:ext cx="5372100" cy="1181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7338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914900"/>
            <a:ext cx="5372100" cy="1181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1435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4914900"/>
            <a:ext cx="5372100" cy="1181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143500"/>
            <a:ext cx="22860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활용 방안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419225" y="1257300"/>
            <a:ext cx="5257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419225" y="15621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버전 Gemini 3.5 모델을 활용하여 AI의 핵심 기능을 구현합니다.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762000" y="2819400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수신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3393341" y="28194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451402" y="2819400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및 검색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082742" y="28194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추천 결과 제공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181100" y="36957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맥락적 대화 이해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1181100" y="40386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질문의맥락을 분석하여 자연스럽고 정확한 답변을 제공합니다. 이전 대화 내용을 기억하고 반영합니다.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838950" y="36957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개인화된 추천 시스템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6838950" y="40386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위치, 취향, 동반자 등 개인 정보를 분석하여 최적의 여행 장소를 추천합니다.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181100" y="5105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정보 처리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1181100" y="54483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부산 여행 정보를 실시간으로 분석하여 사용자에게 제공합니다. 변경된 정보도 즉시 반영합니다.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781800" y="5105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 지원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6781800" y="54483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다국어로 된 사용자 질문을 이해하고 답변할 수 있어 </a:t>
            </a:r>
            <a:r>
              <a:rPr lang="en-US" sz="1200" dirty="0" err="1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국제적인</a:t>
            </a: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사용자에게도</a:t>
            </a: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서비스를 제공합니다.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78"/>
            <a:ext cx="12192000" cy="6858000"/>
          </a:xfrm>
          <a:prstGeom prst="rect">
            <a:avLst/>
          </a:prstGeom>
          <a:noFill/>
          <a:effectLst/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D995D6B0-7591-89C4-DAEB-1674DFD4BB16}"/>
              </a:ext>
            </a:extLst>
          </p:cNvPr>
          <p:cNvSpPr/>
          <p:nvPr/>
        </p:nvSpPr>
        <p:spPr>
          <a:xfrm>
            <a:off x="-6474" y="0"/>
            <a:ext cx="12192000" cy="6880770"/>
          </a:xfrm>
          <a:prstGeom prst="rect">
            <a:avLst/>
          </a:pr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1000">
                <a:srgbClr val="FBFCFE">
                  <a:alpha val="46000"/>
                </a:srgbClr>
              </a:gs>
              <a:gs pos="100000">
                <a:schemeClr val="bg1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6583561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95600"/>
            <a:ext cx="2092821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0861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543300"/>
            <a:ext cx="1711821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4821" y="2895600"/>
            <a:ext cx="209297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5321" y="3086100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5321" y="3543300"/>
            <a:ext cx="1711970" cy="990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0191" y="2895600"/>
            <a:ext cx="209297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0691" y="3086100"/>
            <a:ext cx="2476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0691" y="3543300"/>
            <a:ext cx="171197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953000"/>
            <a:ext cx="6583561" cy="990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486400"/>
            <a:ext cx="6202561" cy="266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API 연동 시스템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838200" y="1562100"/>
            <a:ext cx="61263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 시스템 개요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838200" y="1981200"/>
            <a:ext cx="61263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data.go.kr 및 부산시 공공데이터포털을 통해 실시간 여행 정보를 수집하고, 사용자에게 최적화된 서비스를 제공합니다.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200150" y="3124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명소 정보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685800" y="3543300"/>
            <a:ext cx="21913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관광지 정보 연동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685800" y="3810000"/>
            <a:ext cx="182612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위치 기반 근처 명소 검색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85800" y="4305300"/>
            <a:ext cx="21913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관광지 상세 정보 제공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3407271" y="3124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맛집 정보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2931021" y="3543300"/>
            <a:ext cx="18262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부산 지역 맛집 데이터 연동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2931021" y="40386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메뉴 및 영업 정보 제공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2931021" y="43053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리뷰 통합 관리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5652641" y="3124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정보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5176391" y="3543300"/>
            <a:ext cx="18262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진행 중인 축제 실시간 확인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5176391" y="40386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향후 축제 일정 예측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5176391" y="4305300"/>
            <a:ext cx="21915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특별 이벤트 정보 제공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800100" y="5143500"/>
            <a:ext cx="62025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연동의 장점</a:t>
            </a:r>
            <a:endParaRPr lang="en-US" sz="1500" dirty="0"/>
          </a:p>
        </p:txBody>
      </p:sp>
      <p:sp>
        <p:nvSpPr>
          <p:cNvPr id="34" name="Text 16"/>
          <p:cNvSpPr/>
          <p:nvPr/>
        </p:nvSpPr>
        <p:spPr>
          <a:xfrm>
            <a:off x="1066800" y="5505450"/>
            <a:ext cx="1120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 제공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3172718" y="55054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정확성 보장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5783461" y="55054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성능 최적화</a:t>
            </a:r>
            <a:endParaRPr lang="en-US" sz="1200" dirty="0"/>
          </a:p>
        </p:txBody>
      </p:sp>
      <p:sp>
        <p:nvSpPr>
          <p:cNvPr id="37" name="Text 19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20"/>
          <p:cNvSpPr/>
          <p:nvPr/>
        </p:nvSpPr>
        <p:spPr>
          <a:xfrm>
            <a:off x="11191875" y="6477000"/>
            <a:ext cx="468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12</a:t>
            </a:r>
            <a:endParaRPr lang="en-US" sz="12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817A9EB-25FB-4571-8468-B8DA26736B51}"/>
              </a:ext>
            </a:extLst>
          </p:cNvPr>
          <p:cNvGrpSpPr/>
          <p:nvPr/>
        </p:nvGrpSpPr>
        <p:grpSpPr>
          <a:xfrm rot="8075535">
            <a:off x="7769454" y="1668163"/>
            <a:ext cx="1858222" cy="2345348"/>
            <a:chOff x="7215862" y="2525587"/>
            <a:chExt cx="1858222" cy="2345348"/>
          </a:xfrm>
        </p:grpSpPr>
        <p:sp>
          <p:nvSpPr>
            <p:cNvPr id="3" name="이등변 삼각형 2">
              <a:extLst>
                <a:ext uri="{FF2B5EF4-FFF2-40B4-BE49-F238E27FC236}">
                  <a16:creationId xmlns:a16="http://schemas.microsoft.com/office/drawing/2014/main" id="{6C54E30F-D9A2-4E8B-98C6-06CA505B5716}"/>
                </a:ext>
              </a:extLst>
            </p:cNvPr>
            <p:cNvSpPr/>
            <p:nvPr/>
          </p:nvSpPr>
          <p:spPr>
            <a:xfrm rot="13548309">
              <a:off x="6972299" y="2769150"/>
              <a:ext cx="2345348" cy="1858222"/>
            </a:xfrm>
            <a:prstGeom prst="triangle">
              <a:avLst/>
            </a:prstGeom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사다리꼴 38">
              <a:extLst>
                <a:ext uri="{FF2B5EF4-FFF2-40B4-BE49-F238E27FC236}">
                  <a16:creationId xmlns:a16="http://schemas.microsoft.com/office/drawing/2014/main" id="{B2080FF7-348D-47CE-91D2-46DF903091C9}"/>
                </a:ext>
              </a:extLst>
            </p:cNvPr>
            <p:cNvSpPr/>
            <p:nvPr/>
          </p:nvSpPr>
          <p:spPr>
            <a:xfrm rot="13584208">
              <a:off x="7308033" y="4165973"/>
              <a:ext cx="456053" cy="243324"/>
            </a:xfrm>
            <a:prstGeom prst="trapezoi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E054413-16B0-4CCD-B2BE-DD19F0B8A86A}"/>
              </a:ext>
            </a:extLst>
          </p:cNvPr>
          <p:cNvGrpSpPr/>
          <p:nvPr/>
        </p:nvGrpSpPr>
        <p:grpSpPr>
          <a:xfrm rot="8028108">
            <a:off x="9952566" y="1740952"/>
            <a:ext cx="1858222" cy="2345348"/>
            <a:chOff x="7215862" y="2525587"/>
            <a:chExt cx="1858222" cy="2345348"/>
          </a:xfrm>
        </p:grpSpPr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6018FF0F-5589-4825-AC89-FA94AB080DA7}"/>
                </a:ext>
              </a:extLst>
            </p:cNvPr>
            <p:cNvSpPr/>
            <p:nvPr/>
          </p:nvSpPr>
          <p:spPr>
            <a:xfrm rot="13548309">
              <a:off x="6972299" y="2769150"/>
              <a:ext cx="2345348" cy="1858222"/>
            </a:xfrm>
            <a:prstGeom prst="triangle">
              <a:avLst/>
            </a:prstGeom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다리꼴 47">
              <a:extLst>
                <a:ext uri="{FF2B5EF4-FFF2-40B4-BE49-F238E27FC236}">
                  <a16:creationId xmlns:a16="http://schemas.microsoft.com/office/drawing/2014/main" id="{49DB4FA8-AEE6-4EFF-BD48-2247C2ADA1F9}"/>
                </a:ext>
              </a:extLst>
            </p:cNvPr>
            <p:cNvSpPr/>
            <p:nvPr/>
          </p:nvSpPr>
          <p:spPr>
            <a:xfrm rot="13584208">
              <a:off x="7308033" y="4165973"/>
              <a:ext cx="456053" cy="243324"/>
            </a:xfrm>
            <a:prstGeom prst="trapezoi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0" name="그림 39" descr="텍스트, 그래픽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A68B40-E28F-E042-5FDC-ECF164C411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8711" y="2840836"/>
            <a:ext cx="3885961" cy="1178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104900"/>
            <a:ext cx="5372100" cy="2057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3335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790700"/>
            <a:ext cx="4914900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104900"/>
            <a:ext cx="5372100" cy="2057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3335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790700"/>
            <a:ext cx="4914900" cy="914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467100"/>
            <a:ext cx="3530501" cy="1571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657600"/>
            <a:ext cx="885825" cy="2762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010025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0601" y="3467100"/>
            <a:ext cx="3530650" cy="15716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101" y="3657600"/>
            <a:ext cx="885825" cy="2762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1101" y="4010025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1750" y="3467100"/>
            <a:ext cx="3530501" cy="15716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2250" y="3657600"/>
            <a:ext cx="1133475" cy="2762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42250" y="4010025"/>
            <a:ext cx="361950" cy="3429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및 차별화 포인트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181100" y="1352550"/>
            <a:ext cx="1783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서비스의 한계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066800" y="179070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정적인 정보 제공에 그치거나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1066800" y="2133600"/>
            <a:ext cx="4994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개개인의 취향과 상황을 반영한 맞춤형 추천에 한계가 있음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066800" y="24765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공공데이터를 효과적으로 활용하여 사용자에게 의미 있는 정보를 제공하는 것이 어려움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810375" y="1352550"/>
            <a:ext cx="171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5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혁신성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667500" y="1790700"/>
            <a:ext cx="4263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활용한 동적이고 맥락적인 여행 가이드 제공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667500" y="2133600"/>
            <a:ext cx="38747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질문에 기반한 개인화된 여행 추천 시스템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667500" y="2476500"/>
            <a:ext cx="361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공공데이터포털과의 실시간 연동 시스템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914400" y="3657600"/>
            <a:ext cx="106299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혁신적 접근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1276350" y="4048125"/>
            <a:ext cx="173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개인화 추천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800100" y="4467225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위치, 취향, 동반자 등 질문을 분석하여 최적의 장소를 추천합니다.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4635401" y="3657600"/>
            <a:ext cx="106299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통합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4883051" y="4048125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 연동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4521101" y="4467225"/>
            <a:ext cx="3149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부산시 공공데이터포털의 최신 명소, 맛집, 축제 정보를 실시간으로 반영합니다.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8356550" y="3657600"/>
            <a:ext cx="136017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혁신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8718500" y="4048125"/>
            <a:ext cx="1611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대화형 인터페이스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8242250" y="4467225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카카오톡과 유사한 직관적인 채팅 UI를 통해 사용자가 AI와 자연스럽게 소통할 수 있습니다.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11106150" y="6477000"/>
            <a:ext cx="57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7E8F-5C8F-8D75-172A-8A5D93A3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A9941E-F707-AA0D-A216-878EFCEF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A9061DE-788C-F032-B9A4-DF3BCEA34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9CF54F3-B2AB-C66B-53B5-1A92BC1A6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799" y="2391783"/>
            <a:ext cx="6046401" cy="195703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9FF90D3-DF13-63BE-436E-44D6B0655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4914900" cy="1143000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CBAD32F5-DF10-6450-0FAB-C074E15C8C09}"/>
              </a:ext>
            </a:extLst>
          </p:cNvPr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CCFBF1"/>
                </a:solidFill>
                <a:latin typeface="Noto Sans KR" pitchFamily="34" charset="0"/>
                <a:ea typeface="Noto Sans KR" pitchFamily="34" charset="-122"/>
              </a:rPr>
              <a:t>ThankYou</a:t>
            </a:r>
            <a:endParaRPr lang="en-US" sz="2700" dirty="0">
              <a:solidFill>
                <a:srgbClr val="CCFBF1"/>
              </a:solidFill>
            </a:endParaRP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6799C067-EF39-A112-2083-979B04236D55}"/>
              </a:ext>
            </a:extLst>
          </p:cNvPr>
          <p:cNvSpPr/>
          <p:nvPr/>
        </p:nvSpPr>
        <p:spPr>
          <a:xfrm>
            <a:off x="609600" y="6477000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안드로</a:t>
            </a:r>
            <a:r>
              <a:rPr lang="ko-KR" alt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</a:t>
            </a:r>
            <a:r>
              <a:rPr lang="en-US" sz="1200" dirty="0">
                <a:solidFill>
                  <a:srgbClr val="99F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부산 여행 가이드 AI 서비스</a:t>
            </a:r>
            <a:endParaRPr lang="en-US" sz="12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09A79EC0-C28F-9549-BB06-84B9D410B5E6}"/>
              </a:ext>
            </a:extLst>
          </p:cNvPr>
          <p:cNvSpPr/>
          <p:nvPr/>
        </p:nvSpPr>
        <p:spPr>
          <a:xfrm>
            <a:off x="11106150" y="6477000"/>
            <a:ext cx="57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2EFC5-6179-36CB-3BB4-5E0EB3E335C0}"/>
              </a:ext>
            </a:extLst>
          </p:cNvPr>
          <p:cNvSpPr txBox="1"/>
          <p:nvPr/>
        </p:nvSpPr>
        <p:spPr>
          <a:xfrm>
            <a:off x="3939037" y="2816304"/>
            <a:ext cx="43139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solidFill>
                  <a:srgbClr val="CCFBF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r>
              <a:rPr lang="en-US" altLang="ko-KR" sz="6600" dirty="0">
                <a:solidFill>
                  <a:srgbClr val="CCFBF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6600" dirty="0">
              <a:solidFill>
                <a:srgbClr val="CCFBF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543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959</Words>
  <Application>Microsoft Office PowerPoint</Application>
  <PresentationFormat>와이드스크린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DIT</cp:lastModifiedBy>
  <cp:revision>10</cp:revision>
  <dcterms:created xsi:type="dcterms:W3CDTF">2025-12-02T08:01:31Z</dcterms:created>
  <dcterms:modified xsi:type="dcterms:W3CDTF">2025-12-03T04:11:59Z</dcterms:modified>
</cp:coreProperties>
</file>